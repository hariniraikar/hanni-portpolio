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3" d="100"/>
          <a:sy n="73" d="100"/>
        </p:scale>
        <p:origin x="93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CCA94-5612-4E82-B5C4-8738E5BE98E2}"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132B1C-95EF-4F1E-837C-D78ED5D064F7}" type="slidenum">
              <a:rPr lang="en-IN" smtClean="0"/>
              <a:t>‹#›</a:t>
            </a:fld>
            <a:endParaRPr lang="en-IN"/>
          </a:p>
        </p:txBody>
      </p:sp>
    </p:spTree>
    <p:extLst>
      <p:ext uri="{BB962C8B-B14F-4D97-AF65-F5344CB8AC3E}">
        <p14:creationId xmlns:p14="http://schemas.microsoft.com/office/powerpoint/2010/main" val="34695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132B1C-95EF-4F1E-837C-D78ED5D064F7}" type="slidenum">
              <a:rPr lang="en-IN" smtClean="0"/>
              <a:t>1</a:t>
            </a:fld>
            <a:endParaRPr lang="en-IN"/>
          </a:p>
        </p:txBody>
      </p:sp>
    </p:spTree>
    <p:extLst>
      <p:ext uri="{BB962C8B-B14F-4D97-AF65-F5344CB8AC3E}">
        <p14:creationId xmlns:p14="http://schemas.microsoft.com/office/powerpoint/2010/main" val="103870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4DF9-018E-818D-97F5-3C7F2562AC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316FD6-274E-0BD0-497D-F01627E60A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04CB4-F5FB-F011-2A6C-8C0B4E3AE54E}"/>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5EC4C1C4-E529-A8FB-7F3F-3D173715C5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4FB246-3626-606D-BE03-426C4DBC3052}"/>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1097794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A5BC-7F5D-7771-5396-83F14BB98B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D4E48F-37D1-D188-2C34-FE708B12A3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E325E1-B755-6DF8-6D4D-00290DC76BA4}"/>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FCCF9D65-950B-D31C-E5FB-D81F6B62E8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1D1B96-5D3B-7090-2E40-958573252A1B}"/>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250732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B196-6EC9-A983-873E-82755BB43B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712A27-C8D8-A957-12A0-6BEE7485FC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7A59EE-1A37-181C-7FE7-BB0622440E42}"/>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A0B39016-05EB-10AE-91C2-1DF978A6B6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0913F9-41E4-33A4-1BD4-9FCBF49529F1}"/>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2187260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5789C-E7BF-2837-B1FC-053C8EB216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B7BCCD-47CF-0BAA-F270-26F7B9D078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EAFA5F-1C9A-0D40-7133-EA3F3979E9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7E9F08-17E0-9197-65C8-25A32A18BD24}"/>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6" name="Footer Placeholder 5">
            <a:extLst>
              <a:ext uri="{FF2B5EF4-FFF2-40B4-BE49-F238E27FC236}">
                <a16:creationId xmlns:a16="http://schemas.microsoft.com/office/drawing/2014/main" id="{E24EA959-A9DA-AAAA-CD01-01EC3BB3CA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3E10A9-8A6B-62F6-D9D2-3C6894997011}"/>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2450465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AAE24-C737-C86C-D889-71E80404AD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E4CEF4-280C-C98D-FE64-3D5C133B2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EFCDB1-9E3A-5D40-39C8-59B48FE017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5E849B-B6AF-940A-2A89-56A17D80BB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BE4729-310A-CD61-DC7F-6981DDC15A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B6DC5F-C523-F3CE-17D7-A03070E5AE32}"/>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8" name="Footer Placeholder 7">
            <a:extLst>
              <a:ext uri="{FF2B5EF4-FFF2-40B4-BE49-F238E27FC236}">
                <a16:creationId xmlns:a16="http://schemas.microsoft.com/office/drawing/2014/main" id="{CD17E3AF-224A-D787-DE9E-D6B4281308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AEC2DF-DE02-678C-0EEF-4087FED100AA}"/>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3567923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4F08-CE54-9EB9-12A0-3745B3B06A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3D32F5-D31E-F215-DDEF-75B8AE8E3649}"/>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4" name="Footer Placeholder 3">
            <a:extLst>
              <a:ext uri="{FF2B5EF4-FFF2-40B4-BE49-F238E27FC236}">
                <a16:creationId xmlns:a16="http://schemas.microsoft.com/office/drawing/2014/main" id="{2D26C299-C29E-088B-223A-71B22AE125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D95095-60A9-F8EA-3F4A-B579B9D254F5}"/>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77794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00A2D-343E-F95F-F350-A338DC5CC1F2}"/>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3" name="Footer Placeholder 2">
            <a:extLst>
              <a:ext uri="{FF2B5EF4-FFF2-40B4-BE49-F238E27FC236}">
                <a16:creationId xmlns:a16="http://schemas.microsoft.com/office/drawing/2014/main" id="{54D701F3-901F-9C83-354E-5111BCB4AE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F30E64-D717-D9A2-8ADE-ED72B68C75AA}"/>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4151500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56F8-1A0F-61B8-DAD6-C729C26F7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CE8B30-B716-E73B-7BA6-D6157973F5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546220-F63F-DB33-C89F-C30BAC331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3EC48A-5777-651B-9767-4DE5AC8C8C89}"/>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6" name="Footer Placeholder 5">
            <a:extLst>
              <a:ext uri="{FF2B5EF4-FFF2-40B4-BE49-F238E27FC236}">
                <a16:creationId xmlns:a16="http://schemas.microsoft.com/office/drawing/2014/main" id="{011778F5-9775-63F6-72B9-15938AAD6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6893FD-8E0D-B314-0C2B-5E65A5497F89}"/>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1027864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869A-904B-6212-0730-A0A84E43F4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3F85B8-17F4-457D-05C4-446E903C5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5E6685-8965-433E-A9F1-31F55CC6E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E15EB-7764-A35E-4623-34EEEDA2BC2E}"/>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6" name="Footer Placeholder 5">
            <a:extLst>
              <a:ext uri="{FF2B5EF4-FFF2-40B4-BE49-F238E27FC236}">
                <a16:creationId xmlns:a16="http://schemas.microsoft.com/office/drawing/2014/main" id="{29647C74-823D-EEE0-B1AB-53D55FF073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E1BECB-053E-77CD-F4A0-03A2D102778A}"/>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3822539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EA6AE-83E0-86AB-EF48-9C051E10F3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E40A3E-2225-35B7-972C-2C8D79F47A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E18EFD-AC69-F784-F30E-55254296D67A}"/>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62CE7F13-C160-1A0C-0CE5-C4A2507654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E6DD3D-460E-460D-137E-4DFCA049B4CF}"/>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3413587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42107-CC30-11CD-14CA-67AA0BF994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62A336-5491-6147-D982-DF1B9115A2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1B4365-1469-AF4D-C823-6642BAD6E957}"/>
              </a:ext>
            </a:extLst>
          </p:cNvPr>
          <p:cNvSpPr>
            <a:spLocks noGrp="1"/>
          </p:cNvSpPr>
          <p:nvPr>
            <p:ph type="dt" sz="half" idx="10"/>
          </p:nvPr>
        </p:nvSpPr>
        <p:spPr/>
        <p:txBody>
          <a:body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80BB7BAA-9921-58A0-A029-B5F29DCC78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B14F2C-FE30-A176-522D-1C92DE6D35EB}"/>
              </a:ext>
            </a:extLst>
          </p:cNvPr>
          <p:cNvSpPr>
            <a:spLocks noGrp="1"/>
          </p:cNvSpPr>
          <p:nvPr>
            <p:ph type="sldNum" sz="quarter" idx="12"/>
          </p:nvPr>
        </p:nvSpPr>
        <p:spPr/>
        <p:txBody>
          <a:bodyPr/>
          <a:lstStyle/>
          <a:p>
            <a:fld id="{9CA721A4-D1FF-4570-95E9-2B2C69F5E3F9}" type="slidenum">
              <a:rPr lang="en-IN" smtClean="0"/>
              <a:t>‹#›</a:t>
            </a:fld>
            <a:endParaRPr lang="en-IN"/>
          </a:p>
        </p:txBody>
      </p:sp>
    </p:spTree>
    <p:extLst>
      <p:ext uri="{BB962C8B-B14F-4D97-AF65-F5344CB8AC3E}">
        <p14:creationId xmlns:p14="http://schemas.microsoft.com/office/powerpoint/2010/main" val="527150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DC53D6-1503-6D5B-73B1-B13EEAB1CF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D32E4D-18B2-DA3C-567F-7068347478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0B1000-7625-B65D-9C6C-4B532F8C99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A2AA00-D326-4F51-B741-17B04788CC10}" type="datetimeFigureOut">
              <a:rPr lang="en-IN" smtClean="0"/>
              <a:t>15-09-2026</a:t>
            </a:fld>
            <a:endParaRPr lang="en-IN"/>
          </a:p>
        </p:txBody>
      </p:sp>
      <p:sp>
        <p:nvSpPr>
          <p:cNvPr id="5" name="Footer Placeholder 4">
            <a:extLst>
              <a:ext uri="{FF2B5EF4-FFF2-40B4-BE49-F238E27FC236}">
                <a16:creationId xmlns:a16="http://schemas.microsoft.com/office/drawing/2014/main" id="{EDD8494B-6415-8764-3306-36268DA2D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C83FD10-AEBA-7415-A08C-4558B7ECED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A721A4-D1FF-4570-95E9-2B2C69F5E3F9}" type="slidenum">
              <a:rPr lang="en-IN" smtClean="0"/>
              <a:t>‹#›</a:t>
            </a:fld>
            <a:endParaRPr lang="en-IN"/>
          </a:p>
        </p:txBody>
      </p:sp>
    </p:spTree>
    <p:extLst>
      <p:ext uri="{BB962C8B-B14F-4D97-AF65-F5344CB8AC3E}">
        <p14:creationId xmlns:p14="http://schemas.microsoft.com/office/powerpoint/2010/main" val="568341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2E24B0-598B-5874-BA5D-FE84C01CF92B}"/>
              </a:ext>
            </a:extLst>
          </p:cNvPr>
          <p:cNvSpPr txBox="1"/>
          <p:nvPr/>
        </p:nvSpPr>
        <p:spPr>
          <a:xfrm>
            <a:off x="2774731" y="572555"/>
            <a:ext cx="6096000" cy="461665"/>
          </a:xfrm>
          <a:prstGeom prst="rect">
            <a:avLst/>
          </a:prstGeom>
          <a:noFill/>
        </p:spPr>
        <p:txBody>
          <a:bodyPr wrap="square">
            <a:spAutoFit/>
          </a:bodyPr>
          <a:lstStyle/>
          <a:p>
            <a:r>
              <a:rPr lang="en-US" sz="2400" dirty="0"/>
              <a:t>SWAMY VIVEKANANDHA VIDHYA SAMSTHE ® </a:t>
            </a:r>
            <a:endParaRPr lang="en-IN" sz="2400" dirty="0"/>
          </a:p>
        </p:txBody>
      </p:sp>
      <p:sp>
        <p:nvSpPr>
          <p:cNvPr id="7" name="TextBox 6">
            <a:extLst>
              <a:ext uri="{FF2B5EF4-FFF2-40B4-BE49-F238E27FC236}">
                <a16:creationId xmlns:a16="http://schemas.microsoft.com/office/drawing/2014/main" id="{15B14FB9-E11D-0E34-629A-934E9D4C0DC1}"/>
              </a:ext>
            </a:extLst>
          </p:cNvPr>
          <p:cNvSpPr txBox="1"/>
          <p:nvPr/>
        </p:nvSpPr>
        <p:spPr>
          <a:xfrm>
            <a:off x="1954922" y="946576"/>
            <a:ext cx="8050925" cy="523220"/>
          </a:xfrm>
          <a:prstGeom prst="rect">
            <a:avLst/>
          </a:prstGeom>
          <a:noFill/>
        </p:spPr>
        <p:txBody>
          <a:bodyPr wrap="square">
            <a:spAutoFit/>
          </a:bodyPr>
          <a:lstStyle/>
          <a:p>
            <a:r>
              <a:rPr lang="en-US" sz="2800" dirty="0"/>
              <a:t>KUMADVATHI FIRST GRADE COLLEGE SHIKARIPURA</a:t>
            </a:r>
            <a:endParaRPr lang="en-IN" sz="2800" dirty="0"/>
          </a:p>
        </p:txBody>
      </p:sp>
      <p:sp>
        <p:nvSpPr>
          <p:cNvPr id="9" name="TextBox 8">
            <a:extLst>
              <a:ext uri="{FF2B5EF4-FFF2-40B4-BE49-F238E27FC236}">
                <a16:creationId xmlns:a16="http://schemas.microsoft.com/office/drawing/2014/main" id="{5CAB68B0-9F83-1212-3D20-D0AF2B720687}"/>
              </a:ext>
            </a:extLst>
          </p:cNvPr>
          <p:cNvSpPr txBox="1"/>
          <p:nvPr/>
        </p:nvSpPr>
        <p:spPr>
          <a:xfrm>
            <a:off x="2774731" y="1684276"/>
            <a:ext cx="6096000" cy="954107"/>
          </a:xfrm>
          <a:prstGeom prst="rect">
            <a:avLst/>
          </a:prstGeom>
          <a:noFill/>
        </p:spPr>
        <p:txBody>
          <a:bodyPr wrap="square">
            <a:spAutoFit/>
          </a:bodyPr>
          <a:lstStyle/>
          <a:p>
            <a:pPr algn="ctr"/>
            <a:r>
              <a:rPr lang="en-US" sz="2800" dirty="0">
                <a:latin typeface="Bell MT" panose="02020503060305020303" pitchFamily="18" charset="0"/>
              </a:rPr>
              <a:t>Project on:</a:t>
            </a:r>
          </a:p>
          <a:p>
            <a:pPr algn="ctr"/>
            <a:r>
              <a:rPr lang="en-US" sz="2800" dirty="0">
                <a:latin typeface="Bell MT" panose="02020503060305020303" pitchFamily="18" charset="0"/>
              </a:rPr>
              <a:t>Web Based Data Management System</a:t>
            </a:r>
          </a:p>
        </p:txBody>
      </p:sp>
      <p:sp>
        <p:nvSpPr>
          <p:cNvPr id="11" name="TextBox 10">
            <a:extLst>
              <a:ext uri="{FF2B5EF4-FFF2-40B4-BE49-F238E27FC236}">
                <a16:creationId xmlns:a16="http://schemas.microsoft.com/office/drawing/2014/main" id="{94B18439-3AA5-6FE9-FBCE-29CAE3187309}"/>
              </a:ext>
            </a:extLst>
          </p:cNvPr>
          <p:cNvSpPr txBox="1"/>
          <p:nvPr/>
        </p:nvSpPr>
        <p:spPr>
          <a:xfrm>
            <a:off x="2816772" y="3042218"/>
            <a:ext cx="6096000" cy="954107"/>
          </a:xfrm>
          <a:prstGeom prst="rect">
            <a:avLst/>
          </a:prstGeom>
          <a:noFill/>
        </p:spPr>
        <p:txBody>
          <a:bodyPr wrap="square">
            <a:spAutoFit/>
          </a:bodyPr>
          <a:lstStyle/>
          <a:p>
            <a:pPr algn="ctr"/>
            <a:r>
              <a:rPr lang="en-US" sz="2800" dirty="0">
                <a:latin typeface="Bell MT" panose="02020503060305020303" pitchFamily="18" charset="0"/>
              </a:rPr>
              <a:t>Submitted by</a:t>
            </a:r>
          </a:p>
          <a:p>
            <a:pPr algn="ctr"/>
            <a:r>
              <a:rPr lang="en-US" sz="2800" dirty="0">
                <a:latin typeface="Bell MT" panose="02020503060305020303" pitchFamily="18" charset="0"/>
              </a:rPr>
              <a:t>Harini R Raikar</a:t>
            </a:r>
          </a:p>
        </p:txBody>
      </p:sp>
      <p:sp>
        <p:nvSpPr>
          <p:cNvPr id="13" name="TextBox 12">
            <a:extLst>
              <a:ext uri="{FF2B5EF4-FFF2-40B4-BE49-F238E27FC236}">
                <a16:creationId xmlns:a16="http://schemas.microsoft.com/office/drawing/2014/main" id="{E3200ABF-BC85-9A81-3DA7-7FD83D8893D0}"/>
              </a:ext>
            </a:extLst>
          </p:cNvPr>
          <p:cNvSpPr txBox="1"/>
          <p:nvPr/>
        </p:nvSpPr>
        <p:spPr>
          <a:xfrm>
            <a:off x="4288220" y="4400160"/>
            <a:ext cx="6096000" cy="1846659"/>
          </a:xfrm>
          <a:prstGeom prst="rect">
            <a:avLst/>
          </a:prstGeom>
          <a:noFill/>
        </p:spPr>
        <p:txBody>
          <a:bodyPr wrap="square">
            <a:spAutoFit/>
          </a:bodyPr>
          <a:lstStyle/>
          <a:p>
            <a:r>
              <a:rPr lang="en-US" sz="2400" dirty="0">
                <a:latin typeface="Bell MT" panose="02020503060305020303" pitchFamily="18" charset="0"/>
              </a:rPr>
              <a:t>Under the Guidance of</a:t>
            </a:r>
          </a:p>
          <a:p>
            <a:r>
              <a:rPr lang="en-US" sz="1800" dirty="0">
                <a:latin typeface="Bell MT" panose="02020503060305020303" pitchFamily="18" charset="0"/>
              </a:rPr>
              <a:t>      Prashanth Kumar sir</a:t>
            </a:r>
          </a:p>
          <a:p>
            <a:r>
              <a:rPr lang="en-US" sz="1800" dirty="0">
                <a:latin typeface="Bell MT" panose="02020503060305020303" pitchFamily="18" charset="0"/>
              </a:rPr>
              <a:t>Department of Bachelor of</a:t>
            </a:r>
          </a:p>
          <a:p>
            <a:r>
              <a:rPr lang="en-US" sz="1800" dirty="0">
                <a:latin typeface="Bell MT" panose="02020503060305020303" pitchFamily="18" charset="0"/>
              </a:rPr>
              <a:t>         computer science</a:t>
            </a:r>
          </a:p>
          <a:p>
            <a:r>
              <a:rPr lang="en-US" sz="1800" dirty="0" err="1">
                <a:latin typeface="Bell MT" panose="02020503060305020303" pitchFamily="18" charset="0"/>
              </a:rPr>
              <a:t>Kumadvathi</a:t>
            </a:r>
            <a:r>
              <a:rPr lang="en-US" sz="1800" dirty="0">
                <a:latin typeface="Bell MT" panose="02020503060305020303" pitchFamily="18" charset="0"/>
              </a:rPr>
              <a:t> first grade college </a:t>
            </a:r>
          </a:p>
          <a:p>
            <a:r>
              <a:rPr lang="en-US" sz="1800" dirty="0">
                <a:latin typeface="Bell MT" panose="02020503060305020303" pitchFamily="18" charset="0"/>
              </a:rPr>
              <a:t>               </a:t>
            </a:r>
            <a:r>
              <a:rPr lang="en-US" sz="1800" dirty="0" err="1">
                <a:latin typeface="Bell MT" panose="02020503060305020303" pitchFamily="18" charset="0"/>
              </a:rPr>
              <a:t>Shikaripura</a:t>
            </a:r>
            <a:r>
              <a:rPr lang="en-US" sz="1800" dirty="0">
                <a:latin typeface="Bell MT" panose="02020503060305020303" pitchFamily="18" charset="0"/>
              </a:rPr>
              <a:t>  </a:t>
            </a:r>
            <a:endParaRPr lang="en-IN" sz="1800" dirty="0">
              <a:latin typeface="Bell MT" panose="02020503060305020303" pitchFamily="18" charset="0"/>
            </a:endParaRPr>
          </a:p>
        </p:txBody>
      </p:sp>
      <p:pic>
        <p:nvPicPr>
          <p:cNvPr id="15" name="Picture 2" descr="Kumadvathi First Grade College Shikaripura | Shikarpur">
            <a:extLst>
              <a:ext uri="{FF2B5EF4-FFF2-40B4-BE49-F238E27FC236}">
                <a16:creationId xmlns:a16="http://schemas.microsoft.com/office/drawing/2014/main" id="{E7E381DD-0E97-2BB8-D40B-AF33AB788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29" y="210088"/>
            <a:ext cx="794553" cy="916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8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7D979B5-B8E3-1B36-4067-AA64E30DA5FE}"/>
              </a:ext>
            </a:extLst>
          </p:cNvPr>
          <p:cNvGraphicFramePr>
            <a:graphicFrameLocks noGrp="1"/>
          </p:cNvGraphicFramePr>
          <p:nvPr>
            <p:extLst>
              <p:ext uri="{D42A27DB-BD31-4B8C-83A1-F6EECF244321}">
                <p14:modId xmlns:p14="http://schemas.microsoft.com/office/powerpoint/2010/main" val="107746147"/>
              </p:ext>
            </p:extLst>
          </p:nvPr>
        </p:nvGraphicFramePr>
        <p:xfrm>
          <a:off x="1902372" y="1427480"/>
          <a:ext cx="8099973" cy="4003040"/>
        </p:xfrm>
        <a:graphic>
          <a:graphicData uri="http://schemas.openxmlformats.org/drawingml/2006/table">
            <a:tbl>
              <a:tblPr firstRow="1" bandRow="1">
                <a:tableStyleId>{D7AC3CCA-C797-4891-BE02-D94E43425B78}</a:tableStyleId>
              </a:tblPr>
              <a:tblGrid>
                <a:gridCol w="8099973">
                  <a:extLst>
                    <a:ext uri="{9D8B030D-6E8A-4147-A177-3AD203B41FA5}">
                      <a16:colId xmlns:a16="http://schemas.microsoft.com/office/drawing/2014/main" val="412956820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dirty="0"/>
                        <a:t>INDEX</a:t>
                      </a:r>
                      <a:endParaRPr lang="en-IN" sz="4400" dirty="0"/>
                    </a:p>
                    <a:p>
                      <a:endParaRPr lang="en-IN" dirty="0"/>
                    </a:p>
                  </a:txBody>
                  <a:tcPr/>
                </a:tc>
                <a:extLst>
                  <a:ext uri="{0D108BD9-81ED-4DB2-BD59-A6C34878D82A}">
                    <a16:rowId xmlns:a16="http://schemas.microsoft.com/office/drawing/2014/main" val="30792057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r>
                        <a:rPr lang="en-IN" dirty="0"/>
                        <a:t>. INTRODUCTION TO PHP</a:t>
                      </a:r>
                      <a:endParaRPr lang="en-US" dirty="0"/>
                    </a:p>
                  </a:txBody>
                  <a:tcPr/>
                </a:tc>
                <a:extLst>
                  <a:ext uri="{0D108BD9-81ED-4DB2-BD59-A6C34878D82A}">
                    <a16:rowId xmlns:a16="http://schemas.microsoft.com/office/drawing/2014/main" val="30284434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HARDWARE &amp; SOFTWARE REQUIREMENTS</a:t>
                      </a:r>
                      <a:endParaRPr lang="en-IN" dirty="0"/>
                    </a:p>
                  </a:txBody>
                  <a:tcPr/>
                </a:tc>
                <a:extLst>
                  <a:ext uri="{0D108BD9-81ED-4DB2-BD59-A6C34878D82A}">
                    <a16:rowId xmlns:a16="http://schemas.microsoft.com/office/drawing/2014/main" val="26042928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TOOLS</a:t>
                      </a:r>
                      <a:endParaRPr lang="en-IN" dirty="0"/>
                    </a:p>
                  </a:txBody>
                  <a:tcPr/>
                </a:tc>
                <a:extLst>
                  <a:ext uri="{0D108BD9-81ED-4DB2-BD59-A6C34878D82A}">
                    <a16:rowId xmlns:a16="http://schemas.microsoft.com/office/drawing/2014/main" val="187490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FRONTEND &amp; BACKEND</a:t>
                      </a:r>
                      <a:endParaRPr lang="en-IN" dirty="0"/>
                    </a:p>
                  </a:txBody>
                  <a:tcPr/>
                </a:tc>
                <a:extLst>
                  <a:ext uri="{0D108BD9-81ED-4DB2-BD59-A6C34878D82A}">
                    <a16:rowId xmlns:a16="http://schemas.microsoft.com/office/drawing/2014/main" val="33657749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CONNECTION</a:t>
                      </a:r>
                      <a:endParaRPr lang="en-IN" dirty="0"/>
                    </a:p>
                  </a:txBody>
                  <a:tcPr/>
                </a:tc>
                <a:extLst>
                  <a:ext uri="{0D108BD9-81ED-4DB2-BD59-A6C34878D82A}">
                    <a16:rowId xmlns:a16="http://schemas.microsoft.com/office/drawing/2014/main" val="12804093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 ADVANTAGES &amp; DISADVANTAGES</a:t>
                      </a:r>
                      <a:endParaRPr lang="en-IN" dirty="0"/>
                    </a:p>
                  </a:txBody>
                  <a:tcPr/>
                </a:tc>
                <a:extLst>
                  <a:ext uri="{0D108BD9-81ED-4DB2-BD59-A6C34878D82A}">
                    <a16:rowId xmlns:a16="http://schemas.microsoft.com/office/drawing/2014/main" val="13905644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 CONCLUSION</a:t>
                      </a:r>
                    </a:p>
                  </a:txBody>
                  <a:tcPr/>
                </a:tc>
                <a:extLst>
                  <a:ext uri="{0D108BD9-81ED-4DB2-BD59-A6C34878D82A}">
                    <a16:rowId xmlns:a16="http://schemas.microsoft.com/office/drawing/2014/main" val="34023549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3694701471"/>
                  </a:ext>
                </a:extLst>
              </a:tr>
            </a:tbl>
          </a:graphicData>
        </a:graphic>
      </p:graphicFrame>
    </p:spTree>
    <p:extLst>
      <p:ext uri="{BB962C8B-B14F-4D97-AF65-F5344CB8AC3E}">
        <p14:creationId xmlns:p14="http://schemas.microsoft.com/office/powerpoint/2010/main" val="357005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26091E-F573-EF54-1191-CD6AC5F736C2}"/>
              </a:ext>
            </a:extLst>
          </p:cNvPr>
          <p:cNvSpPr txBox="1"/>
          <p:nvPr/>
        </p:nvSpPr>
        <p:spPr>
          <a:xfrm>
            <a:off x="1072056" y="1997839"/>
            <a:ext cx="10594427" cy="2862322"/>
          </a:xfrm>
          <a:prstGeom prst="rect">
            <a:avLst/>
          </a:prstGeom>
          <a:noFill/>
        </p:spPr>
        <p:txBody>
          <a:bodyPr wrap="square">
            <a:spAutoFit/>
          </a:bodyPr>
          <a:lstStyle/>
          <a:p>
            <a:r>
              <a:rPr lang="en-IN" sz="3600" b="0" i="0" dirty="0">
                <a:solidFill>
                  <a:schemeClr val="tx1"/>
                </a:solidFill>
                <a:effectLst/>
                <a:latin typeface="Bodoni MT" panose="02070603080606020203" pitchFamily="18" charset="0"/>
              </a:rPr>
              <a:t>Introduction to PHP</a:t>
            </a:r>
          </a:p>
          <a:p>
            <a:r>
              <a:rPr lang="en-IN" sz="2400" b="0" i="0" dirty="0">
                <a:solidFill>
                  <a:schemeClr val="tx1"/>
                </a:solidFill>
                <a:effectLst/>
                <a:latin typeface="Bodoni MT" panose="02070603080606020203" pitchFamily="18" charset="0"/>
              </a:rPr>
              <a:t> PHP (Hypertext Preprocessor) is a free and open-source scripting language used to develop dynamic websites and web applications. </a:t>
            </a:r>
          </a:p>
          <a:p>
            <a:endParaRPr lang="en-IN" sz="2400" dirty="0">
              <a:latin typeface="Bodoni MT" panose="02070603080606020203" pitchFamily="18" charset="0"/>
            </a:endParaRPr>
          </a:p>
          <a:p>
            <a:pPr marL="342900" indent="-342900">
              <a:buFont typeface="Wingdings" panose="05000000000000000000" pitchFamily="2" charset="2"/>
              <a:buChar char="q"/>
            </a:pPr>
            <a:r>
              <a:rPr lang="en-IN" sz="2400" b="0" i="0" dirty="0">
                <a:solidFill>
                  <a:schemeClr val="tx1"/>
                </a:solidFill>
                <a:effectLst/>
                <a:latin typeface="Bodoni MT" panose="02070603080606020203" pitchFamily="18" charset="0"/>
              </a:rPr>
              <a:t>It is easy to use and widely used for web development.</a:t>
            </a:r>
          </a:p>
          <a:p>
            <a:pPr marL="342900" indent="-342900">
              <a:buFont typeface="Wingdings" panose="05000000000000000000" pitchFamily="2" charset="2"/>
              <a:buChar char="q"/>
            </a:pPr>
            <a:r>
              <a:rPr lang="en-IN" sz="2400" b="0" i="0" dirty="0">
                <a:solidFill>
                  <a:schemeClr val="tx1"/>
                </a:solidFill>
                <a:effectLst/>
                <a:latin typeface="Bodoni MT" panose="02070603080606020203" pitchFamily="18" charset="0"/>
              </a:rPr>
              <a:t>It can connect with databases such as MySQL. </a:t>
            </a:r>
          </a:p>
          <a:p>
            <a:pPr marL="342900" indent="-342900">
              <a:buFont typeface="Wingdings" panose="05000000000000000000" pitchFamily="2" charset="2"/>
              <a:buChar char="q"/>
            </a:pPr>
            <a:r>
              <a:rPr lang="en-IN" sz="2400" b="0" i="0" dirty="0">
                <a:solidFill>
                  <a:schemeClr val="tx1"/>
                </a:solidFill>
                <a:effectLst/>
                <a:latin typeface="Bodoni MT" panose="02070603080606020203" pitchFamily="18" charset="0"/>
              </a:rPr>
              <a:t> PHP helps in handling user data and backend operations.</a:t>
            </a:r>
            <a:endParaRPr lang="en-IN" sz="2400" dirty="0">
              <a:latin typeface="Bodoni MT" panose="02070603080606020203" pitchFamily="18" charset="0"/>
            </a:endParaRPr>
          </a:p>
        </p:txBody>
      </p:sp>
    </p:spTree>
    <p:extLst>
      <p:ext uri="{BB962C8B-B14F-4D97-AF65-F5344CB8AC3E}">
        <p14:creationId xmlns:p14="http://schemas.microsoft.com/office/powerpoint/2010/main" val="3673815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0CD979-9ED0-9DFC-FD8B-82441760CED9}"/>
              </a:ext>
            </a:extLst>
          </p:cNvPr>
          <p:cNvSpPr txBox="1"/>
          <p:nvPr/>
        </p:nvSpPr>
        <p:spPr>
          <a:xfrm>
            <a:off x="430925" y="1269657"/>
            <a:ext cx="11482552" cy="5262979"/>
          </a:xfrm>
          <a:prstGeom prst="rect">
            <a:avLst/>
          </a:prstGeom>
          <a:noFill/>
        </p:spPr>
        <p:txBody>
          <a:bodyPr wrap="square">
            <a:spAutoFit/>
          </a:bodyPr>
          <a:lstStyle/>
          <a:p>
            <a:pPr indent="0" algn="l" rtl="0">
              <a:buNone/>
            </a:pPr>
            <a:r>
              <a:rPr lang="en-IN" sz="2400" b="0" i="0" dirty="0">
                <a:solidFill>
                  <a:schemeClr val="tx1"/>
                </a:solidFill>
                <a:effectLst/>
                <a:latin typeface="Bodoni MT" panose="02070603080606020203" pitchFamily="18" charset="0"/>
              </a:rPr>
              <a:t>Processor (CPU): It is like the brain of the computer. It processes the instructions given by our PHP program.</a:t>
            </a: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Example: When we click the “Add Student” button, the CPU helps the computer process that operation.</a:t>
            </a:r>
          </a:p>
          <a:p>
            <a:pPr indent="0" algn="l" rtl="0">
              <a:buNone/>
            </a:pPr>
            <a:endParaRPr lang="en-IN" sz="2400" b="0" i="0" dirty="0">
              <a:solidFill>
                <a:schemeClr val="tx1"/>
              </a:solidFill>
              <a:effectLst/>
              <a:latin typeface="Bodoni MT" panose="02070603080606020203" pitchFamily="18" charset="0"/>
            </a:endParaRPr>
          </a:p>
          <a:p>
            <a:pPr indent="0" algn="l" rtl="0">
              <a:buNone/>
            </a:pPr>
            <a:r>
              <a:rPr lang="en-IN" sz="2400" b="0" i="0" dirty="0">
                <a:solidFill>
                  <a:schemeClr val="tx1"/>
                </a:solidFill>
                <a:effectLst/>
                <a:latin typeface="Bodoni MT" panose="02070603080606020203" pitchFamily="18" charset="0"/>
              </a:rPr>
              <a:t>RAM: It temporarily holds the programs and data while we are working. More RAM helps the project run smoothly.</a:t>
            </a: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Example: When Dreamweaver, XAMPP, Chrome, and </a:t>
            </a:r>
            <a:r>
              <a:rPr lang="en-IN" sz="2400" b="0" i="0" dirty="0" err="1">
                <a:solidFill>
                  <a:schemeClr val="tx1"/>
                </a:solidFill>
                <a:effectLst/>
                <a:latin typeface="Bodoni MT" panose="02070603080606020203" pitchFamily="18" charset="0"/>
              </a:rPr>
              <a:t>HeidiSQL</a:t>
            </a:r>
            <a:r>
              <a:rPr lang="en-IN" sz="2400" b="0" i="0" dirty="0">
                <a:solidFill>
                  <a:schemeClr val="tx1"/>
                </a:solidFill>
                <a:effectLst/>
                <a:latin typeface="Bodoni MT" panose="02070603080606020203" pitchFamily="18" charset="0"/>
              </a:rPr>
              <a:t> are open at the same time, RAM helps them run together.</a:t>
            </a:r>
          </a:p>
          <a:p>
            <a:pPr indent="0" algn="l" rtl="0">
              <a:buNone/>
            </a:pPr>
            <a:endParaRPr lang="en-IN" sz="2400" b="0" i="0" dirty="0">
              <a:solidFill>
                <a:schemeClr val="tx1"/>
              </a:solidFill>
              <a:effectLst/>
              <a:latin typeface="Bodoni MT" panose="02070603080606020203" pitchFamily="18" charset="0"/>
            </a:endParaRPr>
          </a:p>
          <a:p>
            <a:pPr indent="0" algn="l" rtl="0">
              <a:buNone/>
            </a:pPr>
            <a:r>
              <a:rPr lang="en-IN" sz="2400" b="0" i="0" dirty="0">
                <a:solidFill>
                  <a:schemeClr val="tx1"/>
                </a:solidFill>
                <a:effectLst/>
                <a:latin typeface="Bodoni MT" panose="02070603080606020203" pitchFamily="18" charset="0"/>
              </a:rPr>
              <a:t>Storage (SSD/HDD): It permanently stores our PHP files, database files, images, and other project files.</a:t>
            </a: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Example: Our </a:t>
            </a:r>
            <a:r>
              <a:rPr lang="en-IN" sz="2400" b="0" i="0" dirty="0" err="1">
                <a:solidFill>
                  <a:schemeClr val="tx1"/>
                </a:solidFill>
                <a:effectLst/>
                <a:latin typeface="Bodoni MT" panose="02070603080606020203" pitchFamily="18" charset="0"/>
              </a:rPr>
              <a:t>index.php</a:t>
            </a:r>
            <a:r>
              <a:rPr lang="en-IN" sz="2400" b="0" i="0" dirty="0">
                <a:solidFill>
                  <a:schemeClr val="tx1"/>
                </a:solidFill>
                <a:effectLst/>
                <a:latin typeface="Bodoni MT" panose="02070603080606020203" pitchFamily="18" charset="0"/>
              </a:rPr>
              <a:t>, </a:t>
            </a:r>
            <a:r>
              <a:rPr lang="en-IN" sz="2400" b="0" i="0" dirty="0" err="1">
                <a:solidFill>
                  <a:schemeClr val="tx1"/>
                </a:solidFill>
                <a:effectLst/>
                <a:latin typeface="Bodoni MT" panose="02070603080606020203" pitchFamily="18" charset="0"/>
              </a:rPr>
              <a:t>login.php</a:t>
            </a:r>
            <a:r>
              <a:rPr lang="en-IN" sz="2400" b="0" i="0" dirty="0">
                <a:solidFill>
                  <a:schemeClr val="tx1"/>
                </a:solidFill>
                <a:effectLst/>
                <a:latin typeface="Bodoni MT" panose="02070603080606020203" pitchFamily="18" charset="0"/>
              </a:rPr>
              <a:t>, CSS files, images, and project folder are stored on the SSD/HDD.</a:t>
            </a:r>
            <a:endParaRPr lang="en-IN" sz="2400" b="0" i="0" dirty="0">
              <a:solidFill>
                <a:srgbClr val="222222"/>
              </a:solidFill>
              <a:effectLst/>
              <a:latin typeface="Bodoni MT" panose="02070603080606020203" pitchFamily="18" charset="0"/>
            </a:endParaRPr>
          </a:p>
        </p:txBody>
      </p:sp>
      <p:sp>
        <p:nvSpPr>
          <p:cNvPr id="5" name="TextBox 4">
            <a:extLst>
              <a:ext uri="{FF2B5EF4-FFF2-40B4-BE49-F238E27FC236}">
                <a16:creationId xmlns:a16="http://schemas.microsoft.com/office/drawing/2014/main" id="{BCB15590-DC54-BF99-4425-DBE2D7BB2549}"/>
              </a:ext>
            </a:extLst>
          </p:cNvPr>
          <p:cNvSpPr txBox="1"/>
          <p:nvPr/>
        </p:nvSpPr>
        <p:spPr>
          <a:xfrm>
            <a:off x="1232339" y="496659"/>
            <a:ext cx="9879724" cy="584775"/>
          </a:xfrm>
          <a:prstGeom prst="rect">
            <a:avLst/>
          </a:prstGeom>
          <a:noFill/>
        </p:spPr>
        <p:txBody>
          <a:bodyPr wrap="square">
            <a:spAutoFit/>
          </a:bodyPr>
          <a:lstStyle/>
          <a:p>
            <a:r>
              <a:rPr lang="en-US" sz="3200" dirty="0">
                <a:latin typeface="Arial Rounded MT Bold" panose="020F0704030504030204" pitchFamily="34" charset="0"/>
              </a:rPr>
              <a:t>HARDWARE AND SOFTWARE REQUIRMENTS</a:t>
            </a:r>
            <a:endParaRPr lang="en-IN" sz="3200" dirty="0">
              <a:latin typeface="Arial Rounded MT Bold" panose="020F0704030504030204" pitchFamily="34" charset="0"/>
            </a:endParaRPr>
          </a:p>
        </p:txBody>
      </p:sp>
    </p:spTree>
    <p:extLst>
      <p:ext uri="{BB962C8B-B14F-4D97-AF65-F5344CB8AC3E}">
        <p14:creationId xmlns:p14="http://schemas.microsoft.com/office/powerpoint/2010/main" val="130302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0AD124-4ECC-A2A9-5E32-80E6519DC285}"/>
              </a:ext>
            </a:extLst>
          </p:cNvPr>
          <p:cNvSpPr txBox="1"/>
          <p:nvPr/>
        </p:nvSpPr>
        <p:spPr>
          <a:xfrm>
            <a:off x="546539" y="1777538"/>
            <a:ext cx="12297103" cy="4201150"/>
          </a:xfrm>
          <a:prstGeom prst="rect">
            <a:avLst/>
          </a:prstGeom>
          <a:noFill/>
        </p:spPr>
        <p:txBody>
          <a:bodyPr wrap="square">
            <a:spAutoFit/>
          </a:bodyPr>
          <a:lstStyle/>
          <a:p>
            <a:pPr marL="0" marR="0" indent="0" algn="l" rtl="0">
              <a:spcBef>
                <a:spcPts val="600"/>
              </a:spcBef>
              <a:buNone/>
            </a:pP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XAMPP – Provides the local server environment, including Apache, to run PHP on the computer.</a:t>
            </a:r>
          </a:p>
          <a:p>
            <a:pPr marL="0" marR="0" indent="0" algn="l" rtl="0">
              <a:spcBef>
                <a:spcPts val="600"/>
              </a:spcBef>
              <a:buNone/>
            </a:pP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Dreamweaver – Used to write and edit PHP, HTML, CSS, and JavaScript code.</a:t>
            </a:r>
          </a:p>
          <a:p>
            <a:pPr marL="0" marR="0" indent="0" algn="l" rtl="0">
              <a:spcBef>
                <a:spcPts val="600"/>
              </a:spcBef>
              <a:buNone/>
            </a:pPr>
            <a:br>
              <a:rPr lang="en-IN" sz="2400" b="0" i="0" dirty="0">
                <a:solidFill>
                  <a:schemeClr val="tx1"/>
                </a:solidFill>
                <a:effectLst/>
                <a:latin typeface="Bodoni MT" panose="02070603080606020203" pitchFamily="18" charset="0"/>
              </a:rPr>
            </a:br>
            <a:r>
              <a:rPr lang="en-IN" sz="2400" b="0" i="0" dirty="0" err="1">
                <a:solidFill>
                  <a:schemeClr val="tx1"/>
                </a:solidFill>
                <a:effectLst/>
                <a:latin typeface="Bodoni MT" panose="02070603080606020203" pitchFamily="18" charset="0"/>
              </a:rPr>
              <a:t>HeidiSQL</a:t>
            </a:r>
            <a:r>
              <a:rPr lang="en-IN" sz="2400" b="0" i="0" dirty="0">
                <a:solidFill>
                  <a:schemeClr val="tx1"/>
                </a:solidFill>
                <a:effectLst/>
                <a:latin typeface="Bodoni MT" panose="02070603080606020203" pitchFamily="18" charset="0"/>
              </a:rPr>
              <a:t> – Used to create, manage, and view the MySQL database and tables.</a:t>
            </a:r>
          </a:p>
          <a:p>
            <a:pPr marL="0" marR="0" indent="0" algn="l" rtl="0">
              <a:spcBef>
                <a:spcPts val="600"/>
              </a:spcBef>
              <a:buNone/>
            </a:pPr>
            <a:br>
              <a:rPr lang="en-IN" sz="2400" b="0" i="0" dirty="0">
                <a:solidFill>
                  <a:schemeClr val="tx1"/>
                </a:solidFill>
                <a:effectLst/>
                <a:latin typeface="Bodoni MT" panose="02070603080606020203" pitchFamily="18" charset="0"/>
              </a:rPr>
            </a:br>
            <a:r>
              <a:rPr lang="en-IN" sz="2400" b="0" i="0" dirty="0">
                <a:solidFill>
                  <a:schemeClr val="tx1"/>
                </a:solidFill>
                <a:effectLst/>
                <a:latin typeface="Bodoni MT" panose="02070603080606020203" pitchFamily="18" charset="0"/>
              </a:rPr>
              <a:t>Google Chrome – Used to open, run, and test the web application. </a:t>
            </a:r>
          </a:p>
          <a:p>
            <a:pPr>
              <a:buNone/>
            </a:pPr>
            <a:br>
              <a:rPr lang="en-IN" dirty="0"/>
            </a:br>
            <a:endParaRPr lang="en-IN" dirty="0"/>
          </a:p>
        </p:txBody>
      </p:sp>
    </p:spTree>
    <p:extLst>
      <p:ext uri="{BB962C8B-B14F-4D97-AF65-F5344CB8AC3E}">
        <p14:creationId xmlns:p14="http://schemas.microsoft.com/office/powerpoint/2010/main" val="505987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E286E7-B6B4-DE59-687D-C6D443FC8797}"/>
              </a:ext>
            </a:extLst>
          </p:cNvPr>
          <p:cNvSpPr txBox="1"/>
          <p:nvPr/>
        </p:nvSpPr>
        <p:spPr>
          <a:xfrm>
            <a:off x="4928486" y="654335"/>
            <a:ext cx="6094268" cy="646331"/>
          </a:xfrm>
          <a:prstGeom prst="rect">
            <a:avLst/>
          </a:prstGeom>
          <a:noFill/>
        </p:spPr>
        <p:txBody>
          <a:bodyPr wrap="square">
            <a:spAutoFit/>
          </a:bodyPr>
          <a:lstStyle/>
          <a:p>
            <a:r>
              <a:rPr lang="en-US" sz="3600" dirty="0">
                <a:latin typeface="Arial Rounded MT Bold" panose="020F0704030504030204" pitchFamily="34" charset="0"/>
              </a:rPr>
              <a:t>TOOLS</a:t>
            </a:r>
            <a:endParaRPr lang="en-IN" dirty="0"/>
          </a:p>
        </p:txBody>
      </p:sp>
      <p:sp>
        <p:nvSpPr>
          <p:cNvPr id="5" name="TextBox 4">
            <a:extLst>
              <a:ext uri="{FF2B5EF4-FFF2-40B4-BE49-F238E27FC236}">
                <a16:creationId xmlns:a16="http://schemas.microsoft.com/office/drawing/2014/main" id="{663FBD2E-F05C-5D13-CB87-917FCCD58DB3}"/>
              </a:ext>
            </a:extLst>
          </p:cNvPr>
          <p:cNvSpPr txBox="1"/>
          <p:nvPr/>
        </p:nvSpPr>
        <p:spPr>
          <a:xfrm>
            <a:off x="1345324" y="1677118"/>
            <a:ext cx="6096000" cy="400110"/>
          </a:xfrm>
          <a:prstGeom prst="rect">
            <a:avLst/>
          </a:prstGeom>
          <a:noFill/>
        </p:spPr>
        <p:txBody>
          <a:bodyPr wrap="square">
            <a:spAutoFit/>
          </a:bodyPr>
          <a:lstStyle/>
          <a:p>
            <a:r>
              <a:rPr lang="en-IN" sz="2000" b="0" i="0" dirty="0" err="1">
                <a:solidFill>
                  <a:schemeClr val="tx1"/>
                </a:solidFill>
                <a:effectLst/>
                <a:latin typeface="Arial Black" panose="020B0A04020102020204" pitchFamily="34" charset="0"/>
              </a:rPr>
              <a:t>HeidiSQL</a:t>
            </a:r>
            <a:endParaRPr lang="en-IN" dirty="0"/>
          </a:p>
        </p:txBody>
      </p:sp>
      <p:sp>
        <p:nvSpPr>
          <p:cNvPr id="7" name="TextBox 6">
            <a:extLst>
              <a:ext uri="{FF2B5EF4-FFF2-40B4-BE49-F238E27FC236}">
                <a16:creationId xmlns:a16="http://schemas.microsoft.com/office/drawing/2014/main" id="{FE53795F-39C2-487F-ACF6-5E68783265AF}"/>
              </a:ext>
            </a:extLst>
          </p:cNvPr>
          <p:cNvSpPr txBox="1"/>
          <p:nvPr/>
        </p:nvSpPr>
        <p:spPr>
          <a:xfrm>
            <a:off x="945930" y="2200065"/>
            <a:ext cx="9038897" cy="1200329"/>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Aptos Display" panose="020B0004020202020204" pitchFamily="34" charset="0"/>
              </a:rPr>
              <a:t> </a:t>
            </a:r>
            <a:r>
              <a:rPr lang="en-IN" sz="2400" dirty="0">
                <a:latin typeface="Bodoni MT" panose="02070603080606020203" pitchFamily="18" charset="0"/>
              </a:rPr>
              <a:t>Create and manage databases.</a:t>
            </a:r>
          </a:p>
          <a:p>
            <a:pPr marL="342900" indent="-342900">
              <a:buFont typeface="Arial" panose="020B0604020202020204" pitchFamily="34" charset="0"/>
              <a:buChar char="•"/>
            </a:pPr>
            <a:r>
              <a:rPr lang="en-IN" sz="2400" dirty="0">
                <a:latin typeface="Bodoni MT" panose="02070603080606020203" pitchFamily="18" charset="0"/>
              </a:rPr>
              <a:t> Create and manage tables. </a:t>
            </a:r>
          </a:p>
          <a:p>
            <a:pPr marL="342900" indent="-342900">
              <a:buFont typeface="Arial" panose="020B0604020202020204" pitchFamily="34" charset="0"/>
              <a:buChar char="•"/>
            </a:pPr>
            <a:r>
              <a:rPr lang="en-IN" sz="2400" dirty="0">
                <a:latin typeface="Bodoni MT" panose="02070603080606020203" pitchFamily="18" charset="0"/>
              </a:rPr>
              <a:t>  View stored data. Insert, update and delete records.</a:t>
            </a:r>
          </a:p>
        </p:txBody>
      </p:sp>
      <p:sp>
        <p:nvSpPr>
          <p:cNvPr id="9" name="TextBox 8">
            <a:extLst>
              <a:ext uri="{FF2B5EF4-FFF2-40B4-BE49-F238E27FC236}">
                <a16:creationId xmlns:a16="http://schemas.microsoft.com/office/drawing/2014/main" id="{171F5004-8664-AD65-A930-AD382BD75573}"/>
              </a:ext>
            </a:extLst>
          </p:cNvPr>
          <p:cNvSpPr txBox="1"/>
          <p:nvPr/>
        </p:nvSpPr>
        <p:spPr>
          <a:xfrm>
            <a:off x="1345324" y="4429346"/>
            <a:ext cx="6096000" cy="400110"/>
          </a:xfrm>
          <a:prstGeom prst="rect">
            <a:avLst/>
          </a:prstGeom>
          <a:noFill/>
        </p:spPr>
        <p:txBody>
          <a:bodyPr wrap="square">
            <a:spAutoFit/>
          </a:bodyPr>
          <a:lstStyle/>
          <a:p>
            <a:r>
              <a:rPr lang="en-IN" sz="2000" dirty="0">
                <a:latin typeface="Arial Black" panose="020B0A04020102020204" pitchFamily="34" charset="0"/>
              </a:rPr>
              <a:t>Dreamweaver</a:t>
            </a:r>
            <a:endParaRPr lang="en-IN" dirty="0"/>
          </a:p>
        </p:txBody>
      </p:sp>
      <p:sp>
        <p:nvSpPr>
          <p:cNvPr id="11" name="TextBox 10">
            <a:extLst>
              <a:ext uri="{FF2B5EF4-FFF2-40B4-BE49-F238E27FC236}">
                <a16:creationId xmlns:a16="http://schemas.microsoft.com/office/drawing/2014/main" id="{B2CB5037-4358-4AEE-5DF0-EED6255B5403}"/>
              </a:ext>
            </a:extLst>
          </p:cNvPr>
          <p:cNvSpPr txBox="1"/>
          <p:nvPr/>
        </p:nvSpPr>
        <p:spPr>
          <a:xfrm>
            <a:off x="1114096" y="5003336"/>
            <a:ext cx="8292661" cy="1200329"/>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Bodoni MT" panose="02070603080606020203" pitchFamily="18" charset="0"/>
              </a:rPr>
              <a:t>Write PHP code. </a:t>
            </a:r>
          </a:p>
          <a:p>
            <a:pPr marL="342900" indent="-342900">
              <a:buFont typeface="Arial" panose="020B0604020202020204" pitchFamily="34" charset="0"/>
              <a:buChar char="•"/>
            </a:pPr>
            <a:r>
              <a:rPr lang="en-IN" sz="2400" dirty="0">
                <a:latin typeface="Bodoni MT" panose="02070603080606020203" pitchFamily="18" charset="0"/>
              </a:rPr>
              <a:t> Write HTML and CSS. Edit JavaScript.</a:t>
            </a:r>
          </a:p>
          <a:p>
            <a:pPr marL="342900" indent="-342900">
              <a:buFont typeface="Arial" panose="020B0604020202020204" pitchFamily="34" charset="0"/>
              <a:buChar char="•"/>
            </a:pPr>
            <a:r>
              <a:rPr lang="en-IN" sz="2400" dirty="0">
                <a:latin typeface="Bodoni MT" panose="02070603080606020203" pitchFamily="18" charset="0"/>
              </a:rPr>
              <a:t> Design and organize webpages</a:t>
            </a:r>
          </a:p>
        </p:txBody>
      </p:sp>
    </p:spTree>
    <p:extLst>
      <p:ext uri="{BB962C8B-B14F-4D97-AF65-F5344CB8AC3E}">
        <p14:creationId xmlns:p14="http://schemas.microsoft.com/office/powerpoint/2010/main" val="681507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B93F6F-23CA-7792-32DF-1880298DAEB6}"/>
              </a:ext>
            </a:extLst>
          </p:cNvPr>
          <p:cNvSpPr txBox="1"/>
          <p:nvPr/>
        </p:nvSpPr>
        <p:spPr>
          <a:xfrm>
            <a:off x="2448910" y="541716"/>
            <a:ext cx="8135007" cy="707886"/>
          </a:xfrm>
          <a:prstGeom prst="rect">
            <a:avLst/>
          </a:prstGeom>
          <a:noFill/>
        </p:spPr>
        <p:txBody>
          <a:bodyPr wrap="square">
            <a:spAutoFit/>
          </a:bodyPr>
          <a:lstStyle/>
          <a:p>
            <a:r>
              <a:rPr lang="en-US" sz="4000" dirty="0">
                <a:latin typeface="Arial Rounded MT Bold" panose="020F0704030504030204" pitchFamily="34" charset="0"/>
              </a:rPr>
              <a:t>FRONTEND &amp; BACKEND</a:t>
            </a:r>
            <a:endParaRPr lang="en-IN" sz="4000" dirty="0">
              <a:latin typeface="Arial Rounded MT Bold" panose="020F0704030504030204" pitchFamily="34" charset="0"/>
            </a:endParaRPr>
          </a:p>
        </p:txBody>
      </p:sp>
      <p:sp>
        <p:nvSpPr>
          <p:cNvPr id="5" name="TextBox 4">
            <a:extLst>
              <a:ext uri="{FF2B5EF4-FFF2-40B4-BE49-F238E27FC236}">
                <a16:creationId xmlns:a16="http://schemas.microsoft.com/office/drawing/2014/main" id="{1FB53E77-9305-3F3B-C530-7EF78DEADBAD}"/>
              </a:ext>
            </a:extLst>
          </p:cNvPr>
          <p:cNvSpPr txBox="1"/>
          <p:nvPr/>
        </p:nvSpPr>
        <p:spPr>
          <a:xfrm>
            <a:off x="735723" y="1509024"/>
            <a:ext cx="11172496" cy="830997"/>
          </a:xfrm>
          <a:prstGeom prst="rect">
            <a:avLst/>
          </a:prstGeom>
          <a:noFill/>
        </p:spPr>
        <p:txBody>
          <a:bodyPr wrap="square">
            <a:spAutoFit/>
          </a:bodyPr>
          <a:lstStyle/>
          <a:p>
            <a:pPr marL="342900" indent="-342900">
              <a:buFont typeface="Wingdings" panose="05000000000000000000" pitchFamily="2" charset="2"/>
              <a:buChar char="v"/>
            </a:pPr>
            <a:r>
              <a:rPr lang="en-IN" sz="2400" b="0" i="0" dirty="0">
                <a:solidFill>
                  <a:schemeClr val="tx1"/>
                </a:solidFill>
                <a:effectLst/>
                <a:latin typeface="Bodoni MT" panose="02070603080606020203" pitchFamily="18" charset="0"/>
              </a:rPr>
              <a:t>FRONTEND</a:t>
            </a:r>
            <a:br>
              <a:rPr lang="en-IN" sz="2400" dirty="0">
                <a:latin typeface="Bodoni MT" panose="02070603080606020203" pitchFamily="18" charset="0"/>
              </a:rPr>
            </a:br>
            <a:r>
              <a:rPr lang="en-IN" sz="2400" b="0" i="0" dirty="0" err="1">
                <a:solidFill>
                  <a:schemeClr val="tx1"/>
                </a:solidFill>
                <a:effectLst/>
                <a:latin typeface="Bodoni MT" panose="02070603080606020203" pitchFamily="18" charset="0"/>
              </a:rPr>
              <a:t>Frontend</a:t>
            </a:r>
            <a:r>
              <a:rPr lang="en-IN" sz="2400" b="0" i="0" dirty="0">
                <a:solidFill>
                  <a:schemeClr val="tx1"/>
                </a:solidFill>
                <a:effectLst/>
                <a:latin typeface="Bodoni MT" panose="02070603080606020203" pitchFamily="18" charset="0"/>
              </a:rPr>
              <a:t> is the part of a web application that the user can see and interact with.</a:t>
            </a:r>
            <a:endParaRPr lang="en-IN" sz="2400" dirty="0">
              <a:latin typeface="Bodoni MT" panose="02070603080606020203" pitchFamily="18" charset="0"/>
            </a:endParaRPr>
          </a:p>
        </p:txBody>
      </p:sp>
      <p:sp>
        <p:nvSpPr>
          <p:cNvPr id="7" name="TextBox 6">
            <a:extLst>
              <a:ext uri="{FF2B5EF4-FFF2-40B4-BE49-F238E27FC236}">
                <a16:creationId xmlns:a16="http://schemas.microsoft.com/office/drawing/2014/main" id="{BA324F57-3B96-B67D-DA75-ECEF195E8641}"/>
              </a:ext>
            </a:extLst>
          </p:cNvPr>
          <p:cNvSpPr txBox="1"/>
          <p:nvPr/>
        </p:nvSpPr>
        <p:spPr>
          <a:xfrm>
            <a:off x="588578" y="2340021"/>
            <a:ext cx="11466785" cy="1938992"/>
          </a:xfrm>
          <a:prstGeom prst="rect">
            <a:avLst/>
          </a:prstGeom>
          <a:noFill/>
        </p:spPr>
        <p:txBody>
          <a:bodyPr wrap="square">
            <a:spAutoFit/>
          </a:bodyPr>
          <a:lstStyle/>
          <a:p>
            <a:pPr marL="342900" indent="-342900">
              <a:buFont typeface="Wingdings" panose="05000000000000000000" pitchFamily="2" charset="2"/>
              <a:buChar char="q"/>
            </a:pPr>
            <a:r>
              <a:rPr lang="en-IN" sz="2400" b="0" i="0" dirty="0">
                <a:solidFill>
                  <a:schemeClr val="tx1"/>
                </a:solidFill>
                <a:effectLst/>
                <a:latin typeface="Bodoni MT" panose="02070603080606020203" pitchFamily="18" charset="0"/>
              </a:rPr>
              <a:t>HTML – Structure</a:t>
            </a:r>
            <a:br>
              <a:rPr lang="en-IN" sz="2400" dirty="0">
                <a:latin typeface="Bodoni MT" panose="02070603080606020203" pitchFamily="18" charset="0"/>
              </a:rPr>
            </a:br>
            <a:r>
              <a:rPr lang="en-IN" sz="2400" b="0" i="0" dirty="0">
                <a:solidFill>
                  <a:schemeClr val="tx1"/>
                </a:solidFill>
                <a:effectLst/>
                <a:latin typeface="Bodoni MT" panose="02070603080606020203" pitchFamily="18" charset="0"/>
              </a:rPr>
              <a:t>HTML (</a:t>
            </a:r>
            <a:r>
              <a:rPr lang="en-IN" sz="2400" b="0" i="0" dirty="0" err="1">
                <a:solidFill>
                  <a:schemeClr val="tx1"/>
                </a:solidFill>
                <a:effectLst/>
                <a:latin typeface="Bodoni MT" panose="02070603080606020203" pitchFamily="18" charset="0"/>
              </a:rPr>
              <a:t>HyperText</a:t>
            </a:r>
            <a:r>
              <a:rPr lang="en-IN" sz="2400" b="0" i="0" dirty="0">
                <a:solidFill>
                  <a:schemeClr val="tx1"/>
                </a:solidFill>
                <a:effectLst/>
                <a:latin typeface="Bodoni MT" panose="02070603080606020203" pitchFamily="18" charset="0"/>
              </a:rPr>
              <a:t> Markup Language) is used to create the structure of the webpage.</a:t>
            </a:r>
          </a:p>
          <a:p>
            <a:pPr marL="342900" indent="-342900">
              <a:buFont typeface="Wingdings" panose="05000000000000000000" pitchFamily="2" charset="2"/>
              <a:buChar char="q"/>
            </a:pPr>
            <a:r>
              <a:rPr lang="en-IN" sz="2400" b="0" i="0" dirty="0">
                <a:solidFill>
                  <a:schemeClr val="tx1"/>
                </a:solidFill>
                <a:effectLst/>
                <a:latin typeface="Bodoni MT" panose="02070603080606020203" pitchFamily="18" charset="0"/>
              </a:rPr>
              <a:t>CSS – Design</a:t>
            </a:r>
            <a:br>
              <a:rPr lang="en-IN" sz="2400" dirty="0">
                <a:latin typeface="Bodoni MT" panose="02070603080606020203" pitchFamily="18" charset="0"/>
              </a:rPr>
            </a:br>
            <a:r>
              <a:rPr lang="en-IN" sz="2400" b="0" i="0" dirty="0">
                <a:solidFill>
                  <a:schemeClr val="tx1"/>
                </a:solidFill>
                <a:effectLst/>
                <a:latin typeface="Bodoni MT" panose="02070603080606020203" pitchFamily="18" charset="0"/>
              </a:rPr>
              <a:t>CSS (Cascading Style Sheets) is used to control the appearance and design of the webpage</a:t>
            </a:r>
            <a:endParaRPr lang="en-IN" sz="2400" dirty="0">
              <a:latin typeface="Bodoni MT" panose="02070603080606020203" pitchFamily="18" charset="0"/>
            </a:endParaRPr>
          </a:p>
        </p:txBody>
      </p:sp>
      <p:sp>
        <p:nvSpPr>
          <p:cNvPr id="9" name="TextBox 8">
            <a:extLst>
              <a:ext uri="{FF2B5EF4-FFF2-40B4-BE49-F238E27FC236}">
                <a16:creationId xmlns:a16="http://schemas.microsoft.com/office/drawing/2014/main" id="{D8DA2EC8-70C5-DB42-AD46-B4C276FCDBF1}"/>
              </a:ext>
            </a:extLst>
          </p:cNvPr>
          <p:cNvSpPr txBox="1"/>
          <p:nvPr/>
        </p:nvSpPr>
        <p:spPr>
          <a:xfrm>
            <a:off x="588578" y="4279013"/>
            <a:ext cx="11834650" cy="3493264"/>
          </a:xfrm>
          <a:prstGeom prst="rect">
            <a:avLst/>
          </a:prstGeom>
          <a:noFill/>
        </p:spPr>
        <p:txBody>
          <a:bodyPr wrap="square">
            <a:spAutoFit/>
          </a:bodyPr>
          <a:lstStyle/>
          <a:p>
            <a:pPr marL="342900" indent="-342900">
              <a:spcBef>
                <a:spcPts val="600"/>
              </a:spcBef>
              <a:buFont typeface="Wingdings" panose="05000000000000000000" pitchFamily="2" charset="2"/>
              <a:buChar char="v"/>
            </a:pPr>
            <a:r>
              <a:rPr lang="en-IN" sz="2400" dirty="0">
                <a:latin typeface="Bodoni MT" panose="02070603080606020203" pitchFamily="18" charset="0"/>
              </a:rPr>
              <a:t>BACKEND </a:t>
            </a:r>
          </a:p>
          <a:p>
            <a:pPr>
              <a:spcBef>
                <a:spcPts val="600"/>
              </a:spcBef>
            </a:pPr>
            <a:r>
              <a:rPr lang="en-IN" sz="2400" b="0" i="0" dirty="0">
                <a:solidFill>
                  <a:schemeClr val="tx1"/>
                </a:solidFill>
                <a:effectLst/>
                <a:latin typeface="Bodoni MT" panose="02070603080606020203" pitchFamily="18" charset="0"/>
              </a:rPr>
              <a:t>Backend is the part of a web application that works behind the screen. It handles processing, application logic and database-related operations.</a:t>
            </a:r>
          </a:p>
          <a:p>
            <a:pPr marL="285750" indent="-285750">
              <a:buFont typeface="Wingdings" panose="05000000000000000000" pitchFamily="2" charset="2"/>
              <a:buChar char="q"/>
            </a:pPr>
            <a:r>
              <a:rPr lang="en-IN" sz="2400" dirty="0">
                <a:latin typeface="Bodoni MT" panose="02070603080606020203" pitchFamily="18" charset="0"/>
              </a:rPr>
              <a:t>PHP Process data entered by the user</a:t>
            </a:r>
          </a:p>
          <a:p>
            <a:pPr marL="342900" indent="-342900">
              <a:buFont typeface="Wingdings" panose="05000000000000000000" pitchFamily="2" charset="2"/>
              <a:buChar char="q"/>
            </a:pPr>
            <a:r>
              <a:rPr lang="en-IN" sz="2400" dirty="0">
                <a:latin typeface="Bodoni MT" panose="02070603080606020203" pitchFamily="18" charset="0"/>
              </a:rPr>
              <a:t>SQL (Structured Query Language) is used to communicate with and manage the database.</a:t>
            </a:r>
          </a:p>
          <a:p>
            <a:br>
              <a:rPr lang="en-IN" sz="2400" dirty="0">
                <a:latin typeface="Bodoni MT" panose="02070603080606020203" pitchFamily="18" charset="0"/>
              </a:rPr>
            </a:br>
            <a:endParaRPr lang="en-IN" sz="2400" dirty="0">
              <a:latin typeface="Bodoni MT" panose="02070603080606020203" pitchFamily="18" charset="0"/>
            </a:endParaRPr>
          </a:p>
          <a:p>
            <a:pPr>
              <a:buNone/>
            </a:pPr>
            <a:endParaRPr lang="en-IN" sz="2400" dirty="0">
              <a:latin typeface="Bodoni MT" panose="02070603080606020203" pitchFamily="18" charset="0"/>
            </a:endParaRPr>
          </a:p>
        </p:txBody>
      </p:sp>
    </p:spTree>
    <p:extLst>
      <p:ext uri="{BB962C8B-B14F-4D97-AF65-F5344CB8AC3E}">
        <p14:creationId xmlns:p14="http://schemas.microsoft.com/office/powerpoint/2010/main" val="3850128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654BF1-342E-E32D-4DE8-49483EBA7EB0}"/>
              </a:ext>
            </a:extLst>
          </p:cNvPr>
          <p:cNvSpPr txBox="1"/>
          <p:nvPr/>
        </p:nvSpPr>
        <p:spPr>
          <a:xfrm>
            <a:off x="496256" y="330414"/>
            <a:ext cx="4696691" cy="646331"/>
          </a:xfrm>
          <a:prstGeom prst="rect">
            <a:avLst/>
          </a:prstGeom>
          <a:noFill/>
        </p:spPr>
        <p:txBody>
          <a:bodyPr wrap="square" rtlCol="0">
            <a:spAutoFit/>
          </a:bodyPr>
          <a:lstStyle/>
          <a:p>
            <a:r>
              <a:rPr lang="en-US" sz="3600" dirty="0">
                <a:latin typeface="Arial Rounded MT Bold" panose="020F0704030504030204" pitchFamily="34" charset="0"/>
              </a:rPr>
              <a:t>EXAMPLE</a:t>
            </a:r>
            <a:endParaRPr lang="en-IN" sz="3600" dirty="0">
              <a:latin typeface="Arial Rounded MT Bold" panose="020F0704030504030204" pitchFamily="34" charset="0"/>
            </a:endParaRPr>
          </a:p>
        </p:txBody>
      </p:sp>
      <p:pic>
        <p:nvPicPr>
          <p:cNvPr id="6" name="Picture 5">
            <a:extLst>
              <a:ext uri="{FF2B5EF4-FFF2-40B4-BE49-F238E27FC236}">
                <a16:creationId xmlns:a16="http://schemas.microsoft.com/office/drawing/2014/main" id="{1C64C69A-B7ED-07CA-492E-4FB06A55D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991" y="1114097"/>
            <a:ext cx="6769471" cy="5507420"/>
          </a:xfrm>
          <a:prstGeom prst="rect">
            <a:avLst/>
          </a:prstGeom>
        </p:spPr>
      </p:pic>
      <p:pic>
        <p:nvPicPr>
          <p:cNvPr id="10" name="Picture 9">
            <a:extLst>
              <a:ext uri="{FF2B5EF4-FFF2-40B4-BE49-F238E27FC236}">
                <a16:creationId xmlns:a16="http://schemas.microsoft.com/office/drawing/2014/main" id="{9E68659E-FBC0-9083-4032-2B0CFBB9B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248" y="1442760"/>
            <a:ext cx="4598522" cy="3972479"/>
          </a:xfrm>
          <a:prstGeom prst="rect">
            <a:avLst/>
          </a:prstGeom>
        </p:spPr>
      </p:pic>
    </p:spTree>
    <p:extLst>
      <p:ext uri="{BB962C8B-B14F-4D97-AF65-F5344CB8AC3E}">
        <p14:creationId xmlns:p14="http://schemas.microsoft.com/office/powerpoint/2010/main" val="719498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6EF34C-DBCB-E988-64ED-A55117C1D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42" y="1103586"/>
            <a:ext cx="5689558" cy="5210902"/>
          </a:xfrm>
          <a:prstGeom prst="rect">
            <a:avLst/>
          </a:prstGeom>
        </p:spPr>
      </p:pic>
      <p:pic>
        <p:nvPicPr>
          <p:cNvPr id="7" name="Picture 6">
            <a:extLst>
              <a:ext uri="{FF2B5EF4-FFF2-40B4-BE49-F238E27FC236}">
                <a16:creationId xmlns:a16="http://schemas.microsoft.com/office/drawing/2014/main" id="{18AE80ED-CA1C-EC81-5C41-99D264F04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2363" y="1442760"/>
            <a:ext cx="5528920" cy="3972479"/>
          </a:xfrm>
          <a:prstGeom prst="rect">
            <a:avLst/>
          </a:prstGeom>
        </p:spPr>
      </p:pic>
    </p:spTree>
    <p:extLst>
      <p:ext uri="{BB962C8B-B14F-4D97-AF65-F5344CB8AC3E}">
        <p14:creationId xmlns:p14="http://schemas.microsoft.com/office/powerpoint/2010/main" val="1198724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3B1C4C-EE23-DF88-D252-994CC0B3BE66}"/>
              </a:ext>
            </a:extLst>
          </p:cNvPr>
          <p:cNvSpPr txBox="1"/>
          <p:nvPr/>
        </p:nvSpPr>
        <p:spPr>
          <a:xfrm>
            <a:off x="189185" y="357543"/>
            <a:ext cx="4719145" cy="584775"/>
          </a:xfrm>
          <a:prstGeom prst="rect">
            <a:avLst/>
          </a:prstGeom>
          <a:noFill/>
        </p:spPr>
        <p:txBody>
          <a:bodyPr wrap="square">
            <a:spAutoFit/>
          </a:bodyPr>
          <a:lstStyle/>
          <a:p>
            <a:r>
              <a:rPr lang="en-US" sz="3200" dirty="0">
                <a:latin typeface="Arial Rounded MT Bold" panose="020F0704030504030204" pitchFamily="34" charset="0"/>
              </a:rPr>
              <a:t>CONNECTION</a:t>
            </a:r>
            <a:endParaRPr lang="en-IN" dirty="0"/>
          </a:p>
        </p:txBody>
      </p:sp>
      <p:pic>
        <p:nvPicPr>
          <p:cNvPr id="4" name="Picture 3" descr="HeidiSQL 8.0 Released">
            <a:extLst>
              <a:ext uri="{FF2B5EF4-FFF2-40B4-BE49-F238E27FC236}">
                <a16:creationId xmlns:a16="http://schemas.microsoft.com/office/drawing/2014/main" id="{8F821777-C568-E434-B429-D1FD646510C1}"/>
              </a:ext>
            </a:extLst>
          </p:cNvPr>
          <p:cNvPicPr>
            <a:picLocks noChangeAspect="1"/>
          </p:cNvPicPr>
          <p:nvPr/>
        </p:nvPicPr>
        <p:blipFill>
          <a:blip r:embed="rId2"/>
          <a:stretch>
            <a:fillRect/>
          </a:stretch>
        </p:blipFill>
        <p:spPr>
          <a:xfrm>
            <a:off x="1285218" y="3343932"/>
            <a:ext cx="3714750" cy="2571750"/>
          </a:xfrm>
          <a:prstGeom prst="rect">
            <a:avLst/>
          </a:prstGeom>
        </p:spPr>
      </p:pic>
      <p:pic>
        <p:nvPicPr>
          <p:cNvPr id="5" name="Picture 4" descr="XAMPP Logo PNG Vector SVG (2.63 KB) Free Download">
            <a:extLst>
              <a:ext uri="{FF2B5EF4-FFF2-40B4-BE49-F238E27FC236}">
                <a16:creationId xmlns:a16="http://schemas.microsoft.com/office/drawing/2014/main" id="{E872E26D-D08F-A0A1-B76D-FD54FE07FF31}"/>
              </a:ext>
            </a:extLst>
          </p:cNvPr>
          <p:cNvPicPr>
            <a:picLocks noChangeAspect="1"/>
          </p:cNvPicPr>
          <p:nvPr/>
        </p:nvPicPr>
        <p:blipFill>
          <a:blip r:embed="rId3"/>
          <a:stretch>
            <a:fillRect/>
          </a:stretch>
        </p:blipFill>
        <p:spPr>
          <a:xfrm>
            <a:off x="8370831" y="3844882"/>
            <a:ext cx="2446883" cy="1767642"/>
          </a:xfrm>
          <a:prstGeom prst="rect">
            <a:avLst/>
          </a:prstGeom>
        </p:spPr>
      </p:pic>
      <p:pic>
        <p:nvPicPr>
          <p:cNvPr id="6" name="Picture 5" descr="Macromedia Dreamweaver 8 Logo PNG Vector (EPS) Free Download">
            <a:extLst>
              <a:ext uri="{FF2B5EF4-FFF2-40B4-BE49-F238E27FC236}">
                <a16:creationId xmlns:a16="http://schemas.microsoft.com/office/drawing/2014/main" id="{9F014268-5E21-5F5C-2D45-0D6B68352668}"/>
              </a:ext>
            </a:extLst>
          </p:cNvPr>
          <p:cNvPicPr>
            <a:picLocks noChangeAspect="1"/>
          </p:cNvPicPr>
          <p:nvPr/>
        </p:nvPicPr>
        <p:blipFill>
          <a:blip r:embed="rId4"/>
          <a:stretch>
            <a:fillRect/>
          </a:stretch>
        </p:blipFill>
        <p:spPr>
          <a:xfrm>
            <a:off x="3648334" y="424294"/>
            <a:ext cx="4460628" cy="3420588"/>
          </a:xfrm>
          <a:prstGeom prst="rect">
            <a:avLst/>
          </a:prstGeom>
        </p:spPr>
      </p:pic>
      <p:cxnSp>
        <p:nvCxnSpPr>
          <p:cNvPr id="8" name="Straight Connector 7">
            <a:extLst>
              <a:ext uri="{FF2B5EF4-FFF2-40B4-BE49-F238E27FC236}">
                <a16:creationId xmlns:a16="http://schemas.microsoft.com/office/drawing/2014/main" id="{D811D97D-1BC5-1B92-5143-8A6EAC0D5DD9}"/>
              </a:ext>
            </a:extLst>
          </p:cNvPr>
          <p:cNvCxnSpPr/>
          <p:nvPr/>
        </p:nvCxnSpPr>
        <p:spPr>
          <a:xfrm flipV="1">
            <a:off x="2597727" y="2421082"/>
            <a:ext cx="2919846" cy="1714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80FFA5E-AEF4-F584-4B27-2C6AD886278B}"/>
              </a:ext>
            </a:extLst>
          </p:cNvPr>
          <p:cNvCxnSpPr/>
          <p:nvPr/>
        </p:nvCxnSpPr>
        <p:spPr>
          <a:xfrm>
            <a:off x="5829300" y="2421082"/>
            <a:ext cx="2743200" cy="1423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80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9B89EA-1517-8CAC-9E5C-4E0FC07ADA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50" y="451718"/>
            <a:ext cx="6996134" cy="2402066"/>
          </a:xfrm>
          <a:prstGeom prst="rect">
            <a:avLst/>
          </a:prstGeom>
        </p:spPr>
      </p:pic>
      <p:pic>
        <p:nvPicPr>
          <p:cNvPr id="16" name="Picture 15">
            <a:extLst>
              <a:ext uri="{FF2B5EF4-FFF2-40B4-BE49-F238E27FC236}">
                <a16:creationId xmlns:a16="http://schemas.microsoft.com/office/drawing/2014/main" id="{18EFF458-3FA1-11F9-D64A-5507A1DD7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922" y="3710152"/>
            <a:ext cx="5534797" cy="4329810"/>
          </a:xfrm>
          <a:prstGeom prst="rect">
            <a:avLst/>
          </a:prstGeom>
        </p:spPr>
      </p:pic>
      <p:pic>
        <p:nvPicPr>
          <p:cNvPr id="20" name="Picture 19">
            <a:extLst>
              <a:ext uri="{FF2B5EF4-FFF2-40B4-BE49-F238E27FC236}">
                <a16:creationId xmlns:a16="http://schemas.microsoft.com/office/drawing/2014/main" id="{D95D2402-C996-62BD-1C9A-BEB88A6E36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411341"/>
            <a:ext cx="5742511" cy="3346658"/>
          </a:xfrm>
          <a:prstGeom prst="rect">
            <a:avLst/>
          </a:prstGeom>
        </p:spPr>
      </p:pic>
      <p:pic>
        <p:nvPicPr>
          <p:cNvPr id="22" name="Picture 21">
            <a:extLst>
              <a:ext uri="{FF2B5EF4-FFF2-40B4-BE49-F238E27FC236}">
                <a16:creationId xmlns:a16="http://schemas.microsoft.com/office/drawing/2014/main" id="{57A38865-6669-E353-7F79-86C6609182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5821" y="325821"/>
            <a:ext cx="3969154" cy="2402066"/>
          </a:xfrm>
          <a:prstGeom prst="rect">
            <a:avLst/>
          </a:prstGeom>
        </p:spPr>
      </p:pic>
      <p:sp>
        <p:nvSpPr>
          <p:cNvPr id="23" name="TextBox 22">
            <a:extLst>
              <a:ext uri="{FF2B5EF4-FFF2-40B4-BE49-F238E27FC236}">
                <a16:creationId xmlns:a16="http://schemas.microsoft.com/office/drawing/2014/main" id="{AC61616B-80C5-8252-0469-C325E06F84B9}"/>
              </a:ext>
            </a:extLst>
          </p:cNvPr>
          <p:cNvSpPr txBox="1"/>
          <p:nvPr/>
        </p:nvSpPr>
        <p:spPr>
          <a:xfrm>
            <a:off x="332509" y="0"/>
            <a:ext cx="4249882" cy="400110"/>
          </a:xfrm>
          <a:prstGeom prst="rect">
            <a:avLst/>
          </a:prstGeom>
          <a:noFill/>
        </p:spPr>
        <p:txBody>
          <a:bodyPr wrap="square" rtlCol="0">
            <a:spAutoFit/>
          </a:bodyPr>
          <a:lstStyle/>
          <a:p>
            <a:r>
              <a:rPr lang="en-US" sz="2000" dirty="0">
                <a:latin typeface="Arial Rounded MT Bold" panose="020F0704030504030204" pitchFamily="34" charset="0"/>
              </a:rPr>
              <a:t>Creating database</a:t>
            </a:r>
            <a:endParaRPr lang="en-IN" sz="2000" dirty="0">
              <a:latin typeface="Arial Rounded MT Bold" panose="020F0704030504030204" pitchFamily="34" charset="0"/>
            </a:endParaRPr>
          </a:p>
        </p:txBody>
      </p:sp>
      <p:sp>
        <p:nvSpPr>
          <p:cNvPr id="24" name="TextBox 23">
            <a:extLst>
              <a:ext uri="{FF2B5EF4-FFF2-40B4-BE49-F238E27FC236}">
                <a16:creationId xmlns:a16="http://schemas.microsoft.com/office/drawing/2014/main" id="{74F888B4-11A5-7F8A-6296-CB968756F64F}"/>
              </a:ext>
            </a:extLst>
          </p:cNvPr>
          <p:cNvSpPr txBox="1"/>
          <p:nvPr/>
        </p:nvSpPr>
        <p:spPr>
          <a:xfrm flipH="1">
            <a:off x="8020549" y="0"/>
            <a:ext cx="3404195" cy="400110"/>
          </a:xfrm>
          <a:prstGeom prst="rect">
            <a:avLst/>
          </a:prstGeom>
          <a:noFill/>
        </p:spPr>
        <p:txBody>
          <a:bodyPr wrap="square" rtlCol="0">
            <a:spAutoFit/>
          </a:bodyPr>
          <a:lstStyle/>
          <a:p>
            <a:r>
              <a:rPr lang="en-US" sz="2000" dirty="0">
                <a:latin typeface="Arial Rounded MT Bold" panose="020F0704030504030204" pitchFamily="34" charset="0"/>
              </a:rPr>
              <a:t>Inserted the data </a:t>
            </a:r>
            <a:endParaRPr lang="en-IN" sz="2000" dirty="0">
              <a:latin typeface="Arial Rounded MT Bold" panose="020F0704030504030204" pitchFamily="34" charset="0"/>
            </a:endParaRPr>
          </a:p>
        </p:txBody>
      </p:sp>
      <p:sp>
        <p:nvSpPr>
          <p:cNvPr id="25" name="TextBox 24">
            <a:extLst>
              <a:ext uri="{FF2B5EF4-FFF2-40B4-BE49-F238E27FC236}">
                <a16:creationId xmlns:a16="http://schemas.microsoft.com/office/drawing/2014/main" id="{9DC97A67-9372-D878-AE98-50003A2534C4}"/>
              </a:ext>
            </a:extLst>
          </p:cNvPr>
          <p:cNvSpPr txBox="1"/>
          <p:nvPr/>
        </p:nvSpPr>
        <p:spPr>
          <a:xfrm>
            <a:off x="353489" y="3259723"/>
            <a:ext cx="3457903" cy="400110"/>
          </a:xfrm>
          <a:prstGeom prst="rect">
            <a:avLst/>
          </a:prstGeom>
          <a:noFill/>
        </p:spPr>
        <p:txBody>
          <a:bodyPr wrap="square" rtlCol="0">
            <a:spAutoFit/>
          </a:bodyPr>
          <a:lstStyle/>
          <a:p>
            <a:r>
              <a:rPr lang="en-US" sz="2000" dirty="0" err="1">
                <a:latin typeface="Arial Rounded MT Bold" panose="020F0704030504030204" pitchFamily="34" charset="0"/>
              </a:rPr>
              <a:t>db</a:t>
            </a:r>
            <a:r>
              <a:rPr lang="en-US" sz="2000" dirty="0">
                <a:latin typeface="Arial Rounded MT Bold" panose="020F0704030504030204" pitchFamily="34" charset="0"/>
              </a:rPr>
              <a:t>,.</a:t>
            </a:r>
            <a:r>
              <a:rPr lang="en-US" sz="2000" dirty="0" err="1">
                <a:latin typeface="Arial Rounded MT Bold" panose="020F0704030504030204" pitchFamily="34" charset="0"/>
              </a:rPr>
              <a:t>php</a:t>
            </a:r>
            <a:r>
              <a:rPr lang="en-US" sz="2000" dirty="0">
                <a:latin typeface="Arial Rounded MT Bold" panose="020F0704030504030204" pitchFamily="34" charset="0"/>
              </a:rPr>
              <a:t> file</a:t>
            </a:r>
            <a:endParaRPr lang="en-IN" sz="2000" dirty="0">
              <a:latin typeface="Arial Rounded MT Bold" panose="020F0704030504030204" pitchFamily="34" charset="0"/>
            </a:endParaRPr>
          </a:p>
        </p:txBody>
      </p:sp>
      <p:sp>
        <p:nvSpPr>
          <p:cNvPr id="26" name="TextBox 25">
            <a:extLst>
              <a:ext uri="{FF2B5EF4-FFF2-40B4-BE49-F238E27FC236}">
                <a16:creationId xmlns:a16="http://schemas.microsoft.com/office/drawing/2014/main" id="{8DC88E4A-7241-6C17-8C4B-2E47C3AAE171}"/>
              </a:ext>
            </a:extLst>
          </p:cNvPr>
          <p:cNvSpPr txBox="1"/>
          <p:nvPr/>
        </p:nvSpPr>
        <p:spPr>
          <a:xfrm>
            <a:off x="7620001" y="3059668"/>
            <a:ext cx="3121572" cy="400110"/>
          </a:xfrm>
          <a:prstGeom prst="rect">
            <a:avLst/>
          </a:prstGeom>
          <a:noFill/>
        </p:spPr>
        <p:txBody>
          <a:bodyPr wrap="square" rtlCol="0">
            <a:spAutoFit/>
          </a:bodyPr>
          <a:lstStyle/>
          <a:p>
            <a:r>
              <a:rPr lang="en-US" sz="2000" dirty="0" err="1">
                <a:latin typeface="Arial Rounded MT Bold" panose="020F0704030504030204" pitchFamily="34" charset="0"/>
              </a:rPr>
              <a:t>Inclding</a:t>
            </a:r>
            <a:r>
              <a:rPr lang="en-US" sz="2000" dirty="0">
                <a:latin typeface="Arial Rounded MT Bold" panose="020F0704030504030204" pitchFamily="34" charset="0"/>
              </a:rPr>
              <a:t> a </a:t>
            </a:r>
            <a:r>
              <a:rPr lang="en-US" sz="2000" dirty="0" err="1">
                <a:latin typeface="Arial Rounded MT Bold" panose="020F0704030504030204" pitchFamily="34" charset="0"/>
              </a:rPr>
              <a:t>db.php</a:t>
            </a:r>
            <a:r>
              <a:rPr lang="en-US" sz="2000" dirty="0">
                <a:latin typeface="Arial Rounded MT Bold" panose="020F0704030504030204" pitchFamily="34" charset="0"/>
              </a:rPr>
              <a:t> to file</a:t>
            </a:r>
            <a:endParaRPr lang="en-IN" sz="2000" dirty="0">
              <a:latin typeface="Arial Rounded MT Bold" panose="020F0704030504030204" pitchFamily="34" charset="0"/>
            </a:endParaRPr>
          </a:p>
        </p:txBody>
      </p:sp>
    </p:spTree>
    <p:extLst>
      <p:ext uri="{BB962C8B-B14F-4D97-AF65-F5344CB8AC3E}">
        <p14:creationId xmlns:p14="http://schemas.microsoft.com/office/powerpoint/2010/main" val="1482896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636373-4782-4205-70D7-9A902176E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211" y="1282740"/>
            <a:ext cx="7994035" cy="941706"/>
          </a:xfrm>
          <a:prstGeom prst="rect">
            <a:avLst/>
          </a:prstGeom>
        </p:spPr>
      </p:pic>
      <p:pic>
        <p:nvPicPr>
          <p:cNvPr id="5" name="Picture 4">
            <a:extLst>
              <a:ext uri="{FF2B5EF4-FFF2-40B4-BE49-F238E27FC236}">
                <a16:creationId xmlns:a16="http://schemas.microsoft.com/office/drawing/2014/main" id="{A33D5977-926F-6A64-F97A-7D87E3C76169}"/>
              </a:ext>
            </a:extLst>
          </p:cNvPr>
          <p:cNvPicPr>
            <a:picLocks noChangeAspect="1"/>
          </p:cNvPicPr>
          <p:nvPr/>
        </p:nvPicPr>
        <p:blipFill>
          <a:blip r:embed="rId3"/>
          <a:stretch>
            <a:fillRect/>
          </a:stretch>
        </p:blipFill>
        <p:spPr>
          <a:xfrm>
            <a:off x="1540080" y="2974428"/>
            <a:ext cx="8734186" cy="1953700"/>
          </a:xfrm>
          <a:prstGeom prst="rect">
            <a:avLst/>
          </a:prstGeom>
        </p:spPr>
      </p:pic>
    </p:spTree>
    <p:extLst>
      <p:ext uri="{BB962C8B-B14F-4D97-AF65-F5344CB8AC3E}">
        <p14:creationId xmlns:p14="http://schemas.microsoft.com/office/powerpoint/2010/main" val="1454787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A563C2-9602-B122-5278-ED768FC7212C}"/>
              </a:ext>
            </a:extLst>
          </p:cNvPr>
          <p:cNvSpPr txBox="1"/>
          <p:nvPr/>
        </p:nvSpPr>
        <p:spPr>
          <a:xfrm>
            <a:off x="451945" y="1014643"/>
            <a:ext cx="6096000" cy="461665"/>
          </a:xfrm>
          <a:prstGeom prst="rect">
            <a:avLst/>
          </a:prstGeom>
          <a:noFill/>
        </p:spPr>
        <p:txBody>
          <a:bodyPr wrap="square">
            <a:spAutoFit/>
          </a:bodyPr>
          <a:lstStyle/>
          <a:p>
            <a:r>
              <a:rPr lang="en-US" sz="2400" dirty="0">
                <a:latin typeface="Arial Rounded MT Bold" panose="020F0704030504030204" pitchFamily="34" charset="0"/>
              </a:rPr>
              <a:t>ADVANTAGES</a:t>
            </a:r>
            <a:endParaRPr lang="en-IN" sz="1800" dirty="0"/>
          </a:p>
        </p:txBody>
      </p:sp>
      <p:sp>
        <p:nvSpPr>
          <p:cNvPr id="5" name="TextBox 4">
            <a:extLst>
              <a:ext uri="{FF2B5EF4-FFF2-40B4-BE49-F238E27FC236}">
                <a16:creationId xmlns:a16="http://schemas.microsoft.com/office/drawing/2014/main" id="{AAD8D5D0-6CC1-F8C5-E6A4-5833BDCED65E}"/>
              </a:ext>
            </a:extLst>
          </p:cNvPr>
          <p:cNvSpPr txBox="1"/>
          <p:nvPr/>
        </p:nvSpPr>
        <p:spPr>
          <a:xfrm>
            <a:off x="325821" y="1792446"/>
            <a:ext cx="6096000" cy="1569660"/>
          </a:xfrm>
          <a:prstGeom prst="rect">
            <a:avLst/>
          </a:prstGeom>
          <a:noFill/>
        </p:spPr>
        <p:txBody>
          <a:bodyPr wrap="square">
            <a:spAutoFit/>
          </a:bodyPr>
          <a:lstStyle/>
          <a:p>
            <a:pPr marL="342900" indent="-342900">
              <a:buFont typeface="Wingdings" panose="05000000000000000000" pitchFamily="2" charset="2"/>
              <a:buChar char="q"/>
            </a:pPr>
            <a:r>
              <a:rPr lang="en-IN" sz="2400" dirty="0">
                <a:latin typeface="Bodoni MT" panose="02070603080606020203" pitchFamily="18" charset="0"/>
              </a:rPr>
              <a:t>Easy to learn.</a:t>
            </a:r>
          </a:p>
          <a:p>
            <a:pPr marL="342900" indent="-342900">
              <a:buFont typeface="Wingdings" panose="05000000000000000000" pitchFamily="2" charset="2"/>
              <a:buChar char="q"/>
            </a:pPr>
            <a:r>
              <a:rPr lang="en-IN" sz="2400" dirty="0">
                <a:latin typeface="Bodoni MT" panose="02070603080606020203" pitchFamily="18" charset="0"/>
              </a:rPr>
              <a:t> Open source. Free to use.</a:t>
            </a:r>
          </a:p>
          <a:p>
            <a:pPr marL="342900" indent="-342900">
              <a:buFont typeface="Wingdings" panose="05000000000000000000" pitchFamily="2" charset="2"/>
              <a:buChar char="q"/>
            </a:pPr>
            <a:r>
              <a:rPr lang="en-IN" sz="2400" dirty="0">
                <a:latin typeface="Bodoni MT" panose="02070603080606020203" pitchFamily="18" charset="0"/>
              </a:rPr>
              <a:t> Database support.</a:t>
            </a:r>
          </a:p>
          <a:p>
            <a:pPr marL="342900" indent="-342900">
              <a:buFont typeface="Wingdings" panose="05000000000000000000" pitchFamily="2" charset="2"/>
              <a:buChar char="q"/>
            </a:pPr>
            <a:r>
              <a:rPr lang="en-IN" sz="2400" dirty="0">
                <a:latin typeface="Bodoni MT" panose="02070603080606020203" pitchFamily="18" charset="0"/>
              </a:rPr>
              <a:t> Fast development.</a:t>
            </a:r>
          </a:p>
        </p:txBody>
      </p:sp>
      <p:sp>
        <p:nvSpPr>
          <p:cNvPr id="7" name="TextBox 6">
            <a:extLst>
              <a:ext uri="{FF2B5EF4-FFF2-40B4-BE49-F238E27FC236}">
                <a16:creationId xmlns:a16="http://schemas.microsoft.com/office/drawing/2014/main" id="{20336B20-5FBA-2E87-DC57-0C9928FD2F38}"/>
              </a:ext>
            </a:extLst>
          </p:cNvPr>
          <p:cNvSpPr txBox="1"/>
          <p:nvPr/>
        </p:nvSpPr>
        <p:spPr>
          <a:xfrm>
            <a:off x="6547945" y="1014643"/>
            <a:ext cx="6096000" cy="461665"/>
          </a:xfrm>
          <a:prstGeom prst="rect">
            <a:avLst/>
          </a:prstGeom>
          <a:noFill/>
        </p:spPr>
        <p:txBody>
          <a:bodyPr wrap="square">
            <a:spAutoFit/>
          </a:bodyPr>
          <a:lstStyle/>
          <a:p>
            <a:r>
              <a:rPr lang="en-US" sz="2400" dirty="0">
                <a:latin typeface="Arial Rounded MT Bold" panose="020F0704030504030204" pitchFamily="34" charset="0"/>
              </a:rPr>
              <a:t>DISADVANTAGES</a:t>
            </a:r>
            <a:endParaRPr lang="en-IN" sz="1800" dirty="0"/>
          </a:p>
        </p:txBody>
      </p:sp>
      <p:sp>
        <p:nvSpPr>
          <p:cNvPr id="9" name="TextBox 8">
            <a:extLst>
              <a:ext uri="{FF2B5EF4-FFF2-40B4-BE49-F238E27FC236}">
                <a16:creationId xmlns:a16="http://schemas.microsoft.com/office/drawing/2014/main" id="{DFFD320F-EDBB-FE3E-6D5E-A5DCB862D919}"/>
              </a:ext>
            </a:extLst>
          </p:cNvPr>
          <p:cNvSpPr txBox="1"/>
          <p:nvPr/>
        </p:nvSpPr>
        <p:spPr>
          <a:xfrm>
            <a:off x="5544207" y="1792446"/>
            <a:ext cx="6321972" cy="2677656"/>
          </a:xfrm>
          <a:prstGeom prst="rect">
            <a:avLst/>
          </a:prstGeom>
          <a:noFill/>
        </p:spPr>
        <p:txBody>
          <a:bodyPr wrap="square">
            <a:spAutoFit/>
          </a:bodyPr>
          <a:lstStyle/>
          <a:p>
            <a:pPr marL="342900" indent="-342900">
              <a:buFont typeface="Wingdings" panose="05000000000000000000" pitchFamily="2" charset="2"/>
              <a:buChar char="q"/>
            </a:pPr>
            <a:r>
              <a:rPr lang="en-IN" sz="2400" dirty="0">
                <a:latin typeface="Bodoni MT" panose="02070603080606020203" pitchFamily="18" charset="0"/>
              </a:rPr>
              <a:t>Security issues if poorly coded.</a:t>
            </a:r>
          </a:p>
          <a:p>
            <a:pPr marL="342900" indent="-342900">
              <a:buFont typeface="Wingdings" panose="05000000000000000000" pitchFamily="2" charset="2"/>
              <a:buChar char="q"/>
            </a:pPr>
            <a:r>
              <a:rPr lang="en-IN" sz="2400" dirty="0">
                <a:latin typeface="Bodoni MT" panose="02070603080606020203" pitchFamily="18" charset="0"/>
              </a:rPr>
              <a:t> Difficult to maintain large projects without proper structure.</a:t>
            </a:r>
          </a:p>
          <a:p>
            <a:pPr marL="342900" indent="-342900">
              <a:buFont typeface="Wingdings" panose="05000000000000000000" pitchFamily="2" charset="2"/>
              <a:buChar char="q"/>
            </a:pPr>
            <a:r>
              <a:rPr lang="en-IN" sz="2400" dirty="0">
                <a:latin typeface="Bodoni MT" panose="02070603080606020203" pitchFamily="18" charset="0"/>
              </a:rPr>
              <a:t> Requires a server environment.</a:t>
            </a:r>
          </a:p>
          <a:p>
            <a:pPr marL="342900" indent="-342900">
              <a:buFont typeface="Wingdings" panose="05000000000000000000" pitchFamily="2" charset="2"/>
              <a:buChar char="q"/>
            </a:pPr>
            <a:r>
              <a:rPr lang="en-IN" sz="2400" dirty="0">
                <a:latin typeface="Bodoni MT" panose="02070603080606020203" pitchFamily="18" charset="0"/>
              </a:rPr>
              <a:t> Not suitable for every type of application.</a:t>
            </a:r>
          </a:p>
          <a:p>
            <a:br>
              <a:rPr lang="en-IN" sz="2400" dirty="0">
                <a:latin typeface="Bodoni MT" panose="02070603080606020203" pitchFamily="18" charset="0"/>
              </a:rPr>
            </a:br>
            <a:endParaRPr lang="en-IN" sz="2400" dirty="0">
              <a:latin typeface="Bodoni MT" panose="02070603080606020203" pitchFamily="18" charset="0"/>
            </a:endParaRPr>
          </a:p>
        </p:txBody>
      </p:sp>
    </p:spTree>
    <p:extLst>
      <p:ext uri="{BB962C8B-B14F-4D97-AF65-F5344CB8AC3E}">
        <p14:creationId xmlns:p14="http://schemas.microsoft.com/office/powerpoint/2010/main" val="3659668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FDAB7A-3D68-5F99-160B-40FEB9ECF3B6}"/>
              </a:ext>
            </a:extLst>
          </p:cNvPr>
          <p:cNvSpPr txBox="1"/>
          <p:nvPr/>
        </p:nvSpPr>
        <p:spPr>
          <a:xfrm>
            <a:off x="693683" y="1587062"/>
            <a:ext cx="11256579" cy="2754600"/>
          </a:xfrm>
          <a:prstGeom prst="rect">
            <a:avLst/>
          </a:prstGeom>
          <a:noFill/>
        </p:spPr>
        <p:txBody>
          <a:bodyPr wrap="square">
            <a:spAutoFit/>
          </a:bodyPr>
          <a:lstStyle/>
          <a:p>
            <a:pPr marL="0" marR="0" indent="0" algn="l" rtl="0">
              <a:spcBef>
                <a:spcPts val="600"/>
              </a:spcBef>
              <a:buNone/>
            </a:pPr>
            <a:endParaRPr lang="en-IN" sz="2400" b="0" i="0" dirty="0">
              <a:solidFill>
                <a:schemeClr val="tx1"/>
              </a:solidFill>
              <a:effectLst/>
              <a:latin typeface="Bodoni MT" panose="02070603080606020203" pitchFamily="18" charset="0"/>
            </a:endParaRPr>
          </a:p>
          <a:p>
            <a:pPr marL="0" marR="0" indent="0" algn="l" rtl="0">
              <a:spcBef>
                <a:spcPts val="600"/>
              </a:spcBef>
              <a:buNone/>
            </a:pPr>
            <a:r>
              <a:rPr lang="en-IN" sz="2400" b="0" i="0" dirty="0">
                <a:solidFill>
                  <a:schemeClr val="tx1"/>
                </a:solidFill>
                <a:effectLst/>
                <a:latin typeface="Bodoni MT" panose="02070603080606020203" pitchFamily="18" charset="0"/>
              </a:rPr>
              <a:t>PHP is a simple and powerful language for developing web applications. In this project, PHP works with MySQL to store, manage, and display data. This project helped us understand how frontend, backend, and database work together to create a web application.</a:t>
            </a:r>
          </a:p>
          <a:p>
            <a:pPr>
              <a:buNone/>
            </a:pPr>
            <a:br>
              <a:rPr lang="en-IN" sz="2400" dirty="0">
                <a:latin typeface="Bodoni MT" panose="02070603080606020203" pitchFamily="18" charset="0"/>
              </a:rPr>
            </a:br>
            <a:endParaRPr lang="en-IN" sz="2400" dirty="0">
              <a:latin typeface="Bodoni MT" panose="02070603080606020203" pitchFamily="18" charset="0"/>
            </a:endParaRPr>
          </a:p>
        </p:txBody>
      </p:sp>
      <p:sp>
        <p:nvSpPr>
          <p:cNvPr id="5" name="TextBox 4">
            <a:extLst>
              <a:ext uri="{FF2B5EF4-FFF2-40B4-BE49-F238E27FC236}">
                <a16:creationId xmlns:a16="http://schemas.microsoft.com/office/drawing/2014/main" id="{2EAF6BAE-CAE1-75C2-0F59-4CB4B1D8A365}"/>
              </a:ext>
            </a:extLst>
          </p:cNvPr>
          <p:cNvSpPr txBox="1"/>
          <p:nvPr/>
        </p:nvSpPr>
        <p:spPr>
          <a:xfrm>
            <a:off x="4151587" y="859248"/>
            <a:ext cx="6096000" cy="646331"/>
          </a:xfrm>
          <a:prstGeom prst="rect">
            <a:avLst/>
          </a:prstGeom>
          <a:noFill/>
        </p:spPr>
        <p:txBody>
          <a:bodyPr wrap="square">
            <a:spAutoFit/>
          </a:bodyPr>
          <a:lstStyle/>
          <a:p>
            <a:r>
              <a:rPr lang="en-US" sz="3600" dirty="0">
                <a:latin typeface="Arial Rounded MT Bold" panose="020F0704030504030204" pitchFamily="34" charset="0"/>
              </a:rPr>
              <a:t>CONCLUSION</a:t>
            </a:r>
            <a:endParaRPr lang="en-IN" dirty="0"/>
          </a:p>
        </p:txBody>
      </p:sp>
    </p:spTree>
    <p:extLst>
      <p:ext uri="{BB962C8B-B14F-4D97-AF65-F5344CB8AC3E}">
        <p14:creationId xmlns:p14="http://schemas.microsoft.com/office/powerpoint/2010/main" val="1824201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535AEC-904D-4CFD-50BD-368D77B44CB5}"/>
              </a:ext>
            </a:extLst>
          </p:cNvPr>
          <p:cNvSpPr txBox="1"/>
          <p:nvPr/>
        </p:nvSpPr>
        <p:spPr>
          <a:xfrm>
            <a:off x="3195143" y="2971855"/>
            <a:ext cx="6190594" cy="1107996"/>
          </a:xfrm>
          <a:prstGeom prst="rect">
            <a:avLst/>
          </a:prstGeom>
          <a:noFill/>
        </p:spPr>
        <p:txBody>
          <a:bodyPr wrap="square" rtlCol="0">
            <a:spAutoFit/>
          </a:bodyPr>
          <a:lstStyle/>
          <a:p>
            <a:r>
              <a:rPr lang="en-US" sz="6600" dirty="0">
                <a:latin typeface="Algerian" panose="04020705040A02060702" pitchFamily="82" charset="0"/>
              </a:rPr>
              <a:t>THANK YOU</a:t>
            </a:r>
            <a:endParaRPr lang="en-IN" sz="6600" dirty="0">
              <a:latin typeface="Algerian" panose="04020705040A02060702" pitchFamily="82" charset="0"/>
            </a:endParaRPr>
          </a:p>
        </p:txBody>
      </p:sp>
    </p:spTree>
    <p:extLst>
      <p:ext uri="{BB962C8B-B14F-4D97-AF65-F5344CB8AC3E}">
        <p14:creationId xmlns:p14="http://schemas.microsoft.com/office/powerpoint/2010/main" val="3236358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633</Words>
  <Application>Microsoft Office PowerPoint</Application>
  <PresentationFormat>Widescreen</PresentationFormat>
  <Paragraphs>78</Paragraphs>
  <Slides>15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Algerian</vt:lpstr>
      <vt:lpstr>Aptos Display</vt:lpstr>
      <vt:lpstr>Arial</vt:lpstr>
      <vt:lpstr>Arial Black</vt:lpstr>
      <vt:lpstr>Arial Rounded MT Bold</vt:lpstr>
      <vt:lpstr>Bell MT</vt:lpstr>
      <vt:lpstr>Bodoni MT</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Mouna Raikar</dc:creator>
  <cp:lastModifiedBy>Mouna Raikar</cp:lastModifiedBy>
  <cp:revision>1</cp:revision>
  <dcterms:created xsi:type="dcterms:W3CDTF">2026-09-15T13:41:30Z</dcterms:created>
  <dcterms:modified xsi:type="dcterms:W3CDTF">2026-09-15T15:54:42Z</dcterms:modified>
</cp:coreProperties>
</file>