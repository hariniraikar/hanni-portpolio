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61" r:id="rId2"/>
    <p:sldId id="269" r:id="rId3"/>
    <p:sldId id="258" r:id="rId4"/>
    <p:sldId id="257" r:id="rId5"/>
    <p:sldId id="259" r:id="rId6"/>
    <p:sldId id="267" r:id="rId7"/>
    <p:sldId id="260" r:id="rId8"/>
    <p:sldId id="262" r:id="rId9"/>
    <p:sldId id="268" r:id="rId10"/>
    <p:sldId id="264" r:id="rId11"/>
    <p:sldId id="265" r:id="rId12"/>
    <p:sldId id="266"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7B1C2-828F-4553-846D-17C08E8620ED}" type="datetimeFigureOut">
              <a:rPr lang="en-IN" smtClean="0"/>
              <a:t>16-04-2026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1AA20-3679-4279-8E12-83EB5D109D4E}" type="slidenum">
              <a:rPr lang="en-IN" smtClean="0"/>
              <a:t>‹#›</a:t>
            </a:fld>
            <a:endParaRPr lang="en-IN"/>
          </a:p>
        </p:txBody>
      </p:sp>
    </p:spTree>
    <p:extLst>
      <p:ext uri="{BB962C8B-B14F-4D97-AF65-F5344CB8AC3E}">
        <p14:creationId xmlns:p14="http://schemas.microsoft.com/office/powerpoint/2010/main" val="1341658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51AA20-3679-4279-8E12-83EB5D109D4E}" type="slidenum">
              <a:rPr lang="en-IN" smtClean="0"/>
              <a:t>12</a:t>
            </a:fld>
            <a:endParaRPr lang="en-IN"/>
          </a:p>
        </p:txBody>
      </p:sp>
    </p:spTree>
    <p:extLst>
      <p:ext uri="{BB962C8B-B14F-4D97-AF65-F5344CB8AC3E}">
        <p14:creationId xmlns:p14="http://schemas.microsoft.com/office/powerpoint/2010/main" val="32542003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96BEDF-E9F8-E83C-DD0A-0BBBEBB33008}"/>
              </a:ext>
            </a:extLst>
          </p:cNvPr>
          <p:cNvSpPr txBox="1"/>
          <p:nvPr/>
        </p:nvSpPr>
        <p:spPr>
          <a:xfrm>
            <a:off x="0" y="-1"/>
            <a:ext cx="12192000" cy="7115503"/>
          </a:xfrm>
          <a:prstGeom prst="rect">
            <a:avLst/>
          </a:prstGeom>
          <a:noFill/>
        </p:spPr>
        <p:txBody>
          <a:bodyPr wrap="square" rtlCol="0">
            <a:spAutoFit/>
          </a:bodyPr>
          <a:lstStyle/>
          <a:p>
            <a:endParaRPr lang="en-IN" dirty="0"/>
          </a:p>
        </p:txBody>
      </p:sp>
      <p:pic>
        <p:nvPicPr>
          <p:cNvPr id="6" name="Picture 5">
            <a:extLst>
              <a:ext uri="{FF2B5EF4-FFF2-40B4-BE49-F238E27FC236}">
                <a16:creationId xmlns:a16="http://schemas.microsoft.com/office/drawing/2014/main" id="{510F47DF-6269-AE47-0A54-A77DC1391984}"/>
              </a:ext>
            </a:extLst>
          </p:cNvPr>
          <p:cNvPicPr>
            <a:picLocks noChangeAspect="1"/>
          </p:cNvPicPr>
          <p:nvPr/>
        </p:nvPicPr>
        <p:blipFill>
          <a:blip r:embed="rId2">
            <a:alphaModFix amt="35000"/>
          </a:blip>
          <a:stretch>
            <a:fillRect/>
          </a:stretch>
        </p:blipFill>
        <p:spPr>
          <a:xfrm>
            <a:off x="0" y="0"/>
            <a:ext cx="12191999" cy="6858000"/>
          </a:xfrm>
          <a:prstGeom prst="rect">
            <a:avLst/>
          </a:prstGeom>
          <a:ln>
            <a:solidFill>
              <a:schemeClr val="bg1"/>
            </a:solidFill>
          </a:ln>
          <a:effectLst>
            <a:softEdge rad="31750"/>
          </a:effectLst>
        </p:spPr>
      </p:pic>
      <p:pic>
        <p:nvPicPr>
          <p:cNvPr id="1026" name="Picture 2" descr="Kumadvathi First Grade College Shikaripura | Shikarpur">
            <a:extLst>
              <a:ext uri="{FF2B5EF4-FFF2-40B4-BE49-F238E27FC236}">
                <a16:creationId xmlns:a16="http://schemas.microsoft.com/office/drawing/2014/main" id="{43715912-3AEC-DEB6-E57A-A993B1DFC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29" y="210088"/>
            <a:ext cx="794553" cy="9162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BC488A4-5042-C395-A746-1AF408DDF966}"/>
              </a:ext>
            </a:extLst>
          </p:cNvPr>
          <p:cNvSpPr txBox="1"/>
          <p:nvPr/>
        </p:nvSpPr>
        <p:spPr>
          <a:xfrm>
            <a:off x="2552514" y="0"/>
            <a:ext cx="6728120" cy="461665"/>
          </a:xfrm>
          <a:prstGeom prst="rect">
            <a:avLst/>
          </a:prstGeom>
          <a:noFill/>
        </p:spPr>
        <p:txBody>
          <a:bodyPr wrap="square" rtlCol="0">
            <a:spAutoFit/>
          </a:bodyPr>
          <a:lstStyle/>
          <a:p>
            <a:r>
              <a:rPr lang="en-US" sz="2400" dirty="0"/>
              <a:t>SWAMY VIVEKANANDHA VIDHYA SAMSTHE ® </a:t>
            </a:r>
            <a:endParaRPr lang="en-IN" sz="2400" dirty="0"/>
          </a:p>
        </p:txBody>
      </p:sp>
      <p:sp>
        <p:nvSpPr>
          <p:cNvPr id="12" name="TextBox 11">
            <a:extLst>
              <a:ext uri="{FF2B5EF4-FFF2-40B4-BE49-F238E27FC236}">
                <a16:creationId xmlns:a16="http://schemas.microsoft.com/office/drawing/2014/main" id="{49108789-6186-516F-03BB-E3DD5A8BA393}"/>
              </a:ext>
            </a:extLst>
          </p:cNvPr>
          <p:cNvSpPr txBox="1"/>
          <p:nvPr/>
        </p:nvSpPr>
        <p:spPr>
          <a:xfrm>
            <a:off x="1867733" y="328806"/>
            <a:ext cx="8603673" cy="523220"/>
          </a:xfrm>
          <a:prstGeom prst="rect">
            <a:avLst/>
          </a:prstGeom>
          <a:noFill/>
        </p:spPr>
        <p:txBody>
          <a:bodyPr wrap="square" rtlCol="0">
            <a:spAutoFit/>
          </a:bodyPr>
          <a:lstStyle/>
          <a:p>
            <a:r>
              <a:rPr lang="en-US" sz="2800" dirty="0"/>
              <a:t>KUMADVATHI FIRST GRADE COLLEGE SHIKARIPURA</a:t>
            </a:r>
            <a:endParaRPr lang="en-IN" sz="2800" dirty="0"/>
          </a:p>
        </p:txBody>
      </p:sp>
      <p:sp>
        <p:nvSpPr>
          <p:cNvPr id="13" name="TextBox 12">
            <a:extLst>
              <a:ext uri="{FF2B5EF4-FFF2-40B4-BE49-F238E27FC236}">
                <a16:creationId xmlns:a16="http://schemas.microsoft.com/office/drawing/2014/main" id="{2A7A4292-FA5F-33FD-B6C7-A8001B5F6F8E}"/>
              </a:ext>
            </a:extLst>
          </p:cNvPr>
          <p:cNvSpPr txBox="1"/>
          <p:nvPr/>
        </p:nvSpPr>
        <p:spPr>
          <a:xfrm flipH="1" flipV="1">
            <a:off x="3096097" y="3798332"/>
            <a:ext cx="5469834" cy="952344"/>
          </a:xfrm>
          <a:prstGeom prst="rect">
            <a:avLst/>
          </a:prstGeom>
          <a:noFill/>
        </p:spPr>
        <p:txBody>
          <a:bodyPr wrap="square" rtlCol="0">
            <a:spAutoFit/>
          </a:bodyPr>
          <a:lstStyle/>
          <a:p>
            <a:endParaRPr lang="en-IN"/>
          </a:p>
        </p:txBody>
      </p:sp>
      <p:sp>
        <p:nvSpPr>
          <p:cNvPr id="14" name="TextBox 13">
            <a:extLst>
              <a:ext uri="{FF2B5EF4-FFF2-40B4-BE49-F238E27FC236}">
                <a16:creationId xmlns:a16="http://schemas.microsoft.com/office/drawing/2014/main" id="{B37C37D6-064E-E8BD-532D-F677075CA000}"/>
              </a:ext>
            </a:extLst>
          </p:cNvPr>
          <p:cNvSpPr txBox="1"/>
          <p:nvPr/>
        </p:nvSpPr>
        <p:spPr>
          <a:xfrm flipH="1">
            <a:off x="4574573" y="4682535"/>
            <a:ext cx="6279967" cy="1846659"/>
          </a:xfrm>
          <a:prstGeom prst="rect">
            <a:avLst/>
          </a:prstGeom>
          <a:noFill/>
        </p:spPr>
        <p:txBody>
          <a:bodyPr wrap="square" rtlCol="0">
            <a:spAutoFit/>
          </a:bodyPr>
          <a:lstStyle/>
          <a:p>
            <a:r>
              <a:rPr lang="en-US" sz="2400" dirty="0">
                <a:solidFill>
                  <a:schemeClr val="bg1"/>
                </a:solidFill>
                <a:latin typeface="Bell MT" panose="02020503060305020303" pitchFamily="18" charset="0"/>
              </a:rPr>
              <a:t>Under the Guidance of</a:t>
            </a:r>
          </a:p>
          <a:p>
            <a:r>
              <a:rPr lang="en-US" dirty="0">
                <a:latin typeface="Bell MT" panose="02020503060305020303" pitchFamily="18" charset="0"/>
              </a:rPr>
              <a:t>      </a:t>
            </a:r>
            <a:r>
              <a:rPr lang="en-US" dirty="0">
                <a:solidFill>
                  <a:schemeClr val="bg1"/>
                </a:solidFill>
                <a:latin typeface="Bell MT" panose="02020503060305020303" pitchFamily="18" charset="0"/>
              </a:rPr>
              <a:t>Prashanth Kumar sir</a:t>
            </a:r>
          </a:p>
          <a:p>
            <a:r>
              <a:rPr lang="en-US" dirty="0">
                <a:solidFill>
                  <a:schemeClr val="bg1"/>
                </a:solidFill>
                <a:latin typeface="Bell MT" panose="02020503060305020303" pitchFamily="18" charset="0"/>
              </a:rPr>
              <a:t>Department of Bachelor of</a:t>
            </a:r>
          </a:p>
          <a:p>
            <a:r>
              <a:rPr lang="en-US" dirty="0">
                <a:solidFill>
                  <a:schemeClr val="bg1"/>
                </a:solidFill>
                <a:latin typeface="Bell MT" panose="02020503060305020303" pitchFamily="18" charset="0"/>
              </a:rPr>
              <a:t>         computer science</a:t>
            </a:r>
          </a:p>
          <a:p>
            <a:r>
              <a:rPr lang="en-US" dirty="0" err="1">
                <a:solidFill>
                  <a:schemeClr val="bg1"/>
                </a:solidFill>
                <a:latin typeface="Bell MT" panose="02020503060305020303" pitchFamily="18" charset="0"/>
              </a:rPr>
              <a:t>Kumadvathi</a:t>
            </a:r>
            <a:r>
              <a:rPr lang="en-US" dirty="0">
                <a:solidFill>
                  <a:schemeClr val="bg1"/>
                </a:solidFill>
                <a:latin typeface="Bell MT" panose="02020503060305020303" pitchFamily="18" charset="0"/>
              </a:rPr>
              <a:t> first grade college </a:t>
            </a:r>
          </a:p>
          <a:p>
            <a:r>
              <a:rPr lang="en-US" dirty="0">
                <a:solidFill>
                  <a:schemeClr val="bg1"/>
                </a:solidFill>
                <a:latin typeface="Bell MT" panose="02020503060305020303" pitchFamily="18" charset="0"/>
              </a:rPr>
              <a:t>               </a:t>
            </a:r>
            <a:r>
              <a:rPr lang="en-US" dirty="0" err="1">
                <a:solidFill>
                  <a:schemeClr val="bg1"/>
                </a:solidFill>
                <a:latin typeface="Bell MT" panose="02020503060305020303" pitchFamily="18" charset="0"/>
              </a:rPr>
              <a:t>Shikaripura</a:t>
            </a:r>
            <a:r>
              <a:rPr lang="en-US" dirty="0">
                <a:solidFill>
                  <a:schemeClr val="bg1"/>
                </a:solidFill>
                <a:latin typeface="Bell MT" panose="02020503060305020303" pitchFamily="18" charset="0"/>
              </a:rPr>
              <a:t>  </a:t>
            </a:r>
            <a:endParaRPr lang="en-IN" dirty="0">
              <a:solidFill>
                <a:schemeClr val="bg1"/>
              </a:solidFill>
              <a:latin typeface="Bell MT" panose="02020503060305020303" pitchFamily="18" charset="0"/>
            </a:endParaRPr>
          </a:p>
        </p:txBody>
      </p:sp>
      <p:sp>
        <p:nvSpPr>
          <p:cNvPr id="15" name="TextBox 14">
            <a:extLst>
              <a:ext uri="{FF2B5EF4-FFF2-40B4-BE49-F238E27FC236}">
                <a16:creationId xmlns:a16="http://schemas.microsoft.com/office/drawing/2014/main" id="{F0DA26E4-79CF-C123-5945-2C4593A09938}"/>
              </a:ext>
            </a:extLst>
          </p:cNvPr>
          <p:cNvSpPr txBox="1"/>
          <p:nvPr/>
        </p:nvSpPr>
        <p:spPr>
          <a:xfrm rot="10800000" flipH="1" flipV="1">
            <a:off x="5070660" y="2796445"/>
            <a:ext cx="5287791" cy="1631216"/>
          </a:xfrm>
          <a:prstGeom prst="rect">
            <a:avLst/>
          </a:prstGeom>
          <a:noFill/>
        </p:spPr>
        <p:txBody>
          <a:bodyPr wrap="square" rtlCol="0">
            <a:spAutoFit/>
          </a:bodyPr>
          <a:lstStyle/>
          <a:p>
            <a:r>
              <a:rPr lang="en-US" sz="2800" dirty="0">
                <a:solidFill>
                  <a:schemeClr val="bg1"/>
                </a:solidFill>
                <a:latin typeface="Bell MT" panose="02020503060305020303" pitchFamily="18" charset="0"/>
              </a:rPr>
              <a:t>Submitted by</a:t>
            </a:r>
          </a:p>
          <a:p>
            <a:pPr algn="just"/>
            <a:r>
              <a:rPr lang="en-US" dirty="0">
                <a:solidFill>
                  <a:schemeClr val="bg1"/>
                </a:solidFill>
                <a:latin typeface="Bell MT" panose="02020503060305020303" pitchFamily="18" charset="0"/>
              </a:rPr>
              <a:t>     Ramya H S</a:t>
            </a:r>
          </a:p>
          <a:p>
            <a:pPr algn="just"/>
            <a:r>
              <a:rPr lang="en-US" dirty="0">
                <a:solidFill>
                  <a:schemeClr val="bg1"/>
                </a:solidFill>
                <a:latin typeface="Bell MT" panose="02020503060305020303" pitchFamily="18" charset="0"/>
              </a:rPr>
              <a:t>     Anjum </a:t>
            </a:r>
            <a:r>
              <a:rPr lang="en-US" dirty="0" err="1">
                <a:solidFill>
                  <a:schemeClr val="bg1"/>
                </a:solidFill>
                <a:latin typeface="Bell MT" panose="02020503060305020303" pitchFamily="18" charset="0"/>
              </a:rPr>
              <a:t>Doddmani</a:t>
            </a:r>
            <a:endParaRPr lang="en-US" dirty="0">
              <a:solidFill>
                <a:schemeClr val="bg1"/>
              </a:solidFill>
              <a:latin typeface="Bell MT" panose="02020503060305020303" pitchFamily="18" charset="0"/>
            </a:endParaRPr>
          </a:p>
          <a:p>
            <a:pPr algn="just"/>
            <a:r>
              <a:rPr lang="en-US" dirty="0">
                <a:solidFill>
                  <a:schemeClr val="bg1"/>
                </a:solidFill>
                <a:latin typeface="Bell MT" panose="02020503060305020303" pitchFamily="18" charset="0"/>
              </a:rPr>
              <a:t>     </a:t>
            </a:r>
            <a:r>
              <a:rPr lang="en-US" dirty="0" err="1">
                <a:solidFill>
                  <a:schemeClr val="bg1"/>
                </a:solidFill>
                <a:latin typeface="Bell MT" panose="02020503060305020303" pitchFamily="18" charset="0"/>
              </a:rPr>
              <a:t>Thasmiya</a:t>
            </a:r>
            <a:endParaRPr lang="en-US" dirty="0">
              <a:solidFill>
                <a:schemeClr val="bg1"/>
              </a:solidFill>
              <a:latin typeface="Bell MT" panose="02020503060305020303" pitchFamily="18" charset="0"/>
            </a:endParaRPr>
          </a:p>
          <a:p>
            <a:pPr algn="just"/>
            <a:r>
              <a:rPr lang="en-US" dirty="0">
                <a:solidFill>
                  <a:schemeClr val="bg1"/>
                </a:solidFill>
                <a:latin typeface="Bell MT" panose="02020503060305020303" pitchFamily="18" charset="0"/>
              </a:rPr>
              <a:t>     Harini Raika</a:t>
            </a:r>
            <a:r>
              <a:rPr lang="en-US" dirty="0">
                <a:solidFill>
                  <a:schemeClr val="bg1"/>
                </a:solidFill>
              </a:rPr>
              <a:t>r </a:t>
            </a:r>
            <a:endParaRPr lang="en-IN" dirty="0">
              <a:solidFill>
                <a:schemeClr val="bg1"/>
              </a:solidFill>
            </a:endParaRPr>
          </a:p>
        </p:txBody>
      </p:sp>
      <p:sp>
        <p:nvSpPr>
          <p:cNvPr id="16" name="TextBox 15">
            <a:extLst>
              <a:ext uri="{FF2B5EF4-FFF2-40B4-BE49-F238E27FC236}">
                <a16:creationId xmlns:a16="http://schemas.microsoft.com/office/drawing/2014/main" id="{80B045BE-5D84-FAD7-4D1E-79238930A002}"/>
              </a:ext>
            </a:extLst>
          </p:cNvPr>
          <p:cNvSpPr txBox="1"/>
          <p:nvPr/>
        </p:nvSpPr>
        <p:spPr>
          <a:xfrm flipH="1">
            <a:off x="3736869" y="1345868"/>
            <a:ext cx="5543765" cy="954107"/>
          </a:xfrm>
          <a:prstGeom prst="rect">
            <a:avLst/>
          </a:prstGeom>
          <a:noFill/>
        </p:spPr>
        <p:txBody>
          <a:bodyPr wrap="square" rtlCol="0">
            <a:spAutoFit/>
          </a:bodyPr>
          <a:lstStyle/>
          <a:p>
            <a:r>
              <a:rPr lang="en-US" sz="2800" dirty="0">
                <a:solidFill>
                  <a:schemeClr val="bg1"/>
                </a:solidFill>
                <a:latin typeface="Bell MT" panose="02020503060305020303" pitchFamily="18" charset="0"/>
              </a:rPr>
              <a:t>               Project on:</a:t>
            </a:r>
          </a:p>
          <a:p>
            <a:r>
              <a:rPr lang="en-US" sz="2800" dirty="0">
                <a:solidFill>
                  <a:schemeClr val="bg1"/>
                </a:solidFill>
                <a:latin typeface="Bell MT" panose="02020503060305020303" pitchFamily="18" charset="0"/>
              </a:rPr>
              <a:t>Convert the </a:t>
            </a:r>
            <a:r>
              <a:rPr lang="en-US" sz="2800" dirty="0" err="1">
                <a:solidFill>
                  <a:schemeClr val="bg1"/>
                </a:solidFill>
                <a:latin typeface="Bell MT" panose="02020503060305020303" pitchFamily="18" charset="0"/>
              </a:rPr>
              <a:t>tempreture</a:t>
            </a:r>
            <a:r>
              <a:rPr lang="en-US" sz="2800" dirty="0">
                <a:solidFill>
                  <a:schemeClr val="bg1"/>
                </a:solidFill>
                <a:latin typeface="Bell MT" panose="02020503060305020303" pitchFamily="18" charset="0"/>
              </a:rPr>
              <a:t> units</a:t>
            </a:r>
            <a:endParaRPr lang="en-IN" sz="2800" dirty="0">
              <a:solidFill>
                <a:schemeClr val="bg1"/>
              </a:solidFill>
              <a:latin typeface="Bell MT" panose="02020503060305020303" pitchFamily="18" charset="0"/>
            </a:endParaRPr>
          </a:p>
        </p:txBody>
      </p:sp>
    </p:spTree>
    <p:extLst>
      <p:ext uri="{BB962C8B-B14F-4D97-AF65-F5344CB8AC3E}">
        <p14:creationId xmlns:p14="http://schemas.microsoft.com/office/powerpoint/2010/main" val="2754179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07F72A-88EE-83DD-B879-14EA7216771A}"/>
              </a:ext>
            </a:extLst>
          </p:cNvPr>
          <p:cNvSpPr txBox="1"/>
          <p:nvPr/>
        </p:nvSpPr>
        <p:spPr>
          <a:xfrm>
            <a:off x="1159362" y="793172"/>
            <a:ext cx="4779819" cy="923330"/>
          </a:xfrm>
          <a:prstGeom prst="rect">
            <a:avLst/>
          </a:prstGeom>
          <a:noFill/>
        </p:spPr>
        <p:txBody>
          <a:bodyPr wrap="square" rtlCol="0">
            <a:spAutoFit/>
          </a:bodyPr>
          <a:lstStyle/>
          <a:p>
            <a:r>
              <a:rPr lang="en-US" sz="5400" dirty="0">
                <a:solidFill>
                  <a:schemeClr val="bg1"/>
                </a:solidFill>
                <a:latin typeface="Algerian" panose="04020705040A02060702" pitchFamily="82" charset="0"/>
              </a:rPr>
              <a:t>contents</a:t>
            </a:r>
            <a:endParaRPr lang="en-IN" sz="5400" dirty="0">
              <a:solidFill>
                <a:schemeClr val="bg1"/>
              </a:solidFill>
              <a:latin typeface="Algerian" panose="04020705040A02060702" pitchFamily="82" charset="0"/>
            </a:endParaRPr>
          </a:p>
        </p:txBody>
      </p:sp>
      <p:sp>
        <p:nvSpPr>
          <p:cNvPr id="6" name="TextBox 5">
            <a:extLst>
              <a:ext uri="{FF2B5EF4-FFF2-40B4-BE49-F238E27FC236}">
                <a16:creationId xmlns:a16="http://schemas.microsoft.com/office/drawing/2014/main" id="{2CE733AE-382F-59BF-57CE-E326B98D3A7C}"/>
              </a:ext>
            </a:extLst>
          </p:cNvPr>
          <p:cNvSpPr txBox="1"/>
          <p:nvPr/>
        </p:nvSpPr>
        <p:spPr>
          <a:xfrm>
            <a:off x="1159362" y="1878247"/>
            <a:ext cx="3896591" cy="3970318"/>
          </a:xfrm>
          <a:prstGeom prst="rect">
            <a:avLst/>
          </a:prstGeom>
          <a:noFill/>
        </p:spPr>
        <p:txBody>
          <a:bodyPr wrap="square" rtlCol="0">
            <a:spAutoFit/>
          </a:bodyPr>
          <a:lstStyle/>
          <a:p>
            <a:pPr marL="457200" indent="-457200">
              <a:buFont typeface="Wingdings" panose="05000000000000000000" pitchFamily="2" charset="2"/>
              <a:buChar char="v"/>
            </a:pPr>
            <a:r>
              <a:rPr lang="en-US" sz="2400" dirty="0">
                <a:latin typeface="Bell MT" panose="02020503060305020303" pitchFamily="18" charset="0"/>
              </a:rPr>
              <a:t>Aim</a:t>
            </a:r>
          </a:p>
          <a:p>
            <a:pPr marL="457200" indent="-457200">
              <a:buFont typeface="Wingdings" panose="05000000000000000000" pitchFamily="2" charset="2"/>
              <a:buChar char="v"/>
            </a:pPr>
            <a:r>
              <a:rPr lang="en-US" sz="2400" dirty="0">
                <a:latin typeface="Bell MT" panose="02020503060305020303" pitchFamily="18" charset="0"/>
              </a:rPr>
              <a:t>Introduction</a:t>
            </a:r>
          </a:p>
          <a:p>
            <a:pPr marL="457200" indent="-457200">
              <a:buFont typeface="Wingdings" panose="05000000000000000000" pitchFamily="2" charset="2"/>
              <a:buChar char="v"/>
            </a:pPr>
            <a:r>
              <a:rPr lang="en-US" sz="2400" dirty="0">
                <a:latin typeface="Bell MT" panose="02020503060305020303" pitchFamily="18" charset="0"/>
              </a:rPr>
              <a:t>Objectives</a:t>
            </a:r>
          </a:p>
          <a:p>
            <a:pPr marL="457200" indent="-457200">
              <a:buFont typeface="Wingdings" panose="05000000000000000000" pitchFamily="2" charset="2"/>
              <a:buChar char="v"/>
            </a:pPr>
            <a:r>
              <a:rPr lang="en-US" sz="2400" dirty="0">
                <a:latin typeface="Bell MT" panose="02020503060305020303" pitchFamily="18" charset="0"/>
              </a:rPr>
              <a:t>Features</a:t>
            </a:r>
          </a:p>
          <a:p>
            <a:pPr marL="457200" indent="-457200">
              <a:buFont typeface="Wingdings" panose="05000000000000000000" pitchFamily="2" charset="2"/>
              <a:buChar char="v"/>
            </a:pPr>
            <a:r>
              <a:rPr lang="en-US" sz="2400" dirty="0">
                <a:latin typeface="Bell MT" panose="02020503060305020303" pitchFamily="18" charset="0"/>
              </a:rPr>
              <a:t>Formulas</a:t>
            </a:r>
          </a:p>
          <a:p>
            <a:pPr marL="457200" indent="-457200">
              <a:buFont typeface="Wingdings" panose="05000000000000000000" pitchFamily="2" charset="2"/>
              <a:buChar char="v"/>
            </a:pPr>
            <a:r>
              <a:rPr lang="en-US" sz="2400" dirty="0">
                <a:latin typeface="Bell MT" panose="02020503060305020303" pitchFamily="18" charset="0"/>
              </a:rPr>
              <a:t>Algorithm</a:t>
            </a:r>
          </a:p>
          <a:p>
            <a:pPr marL="457200" indent="-457200">
              <a:buFont typeface="Wingdings" panose="05000000000000000000" pitchFamily="2" charset="2"/>
              <a:buChar char="v"/>
            </a:pPr>
            <a:r>
              <a:rPr lang="en-US" sz="2400" dirty="0">
                <a:latin typeface="Bell MT" panose="02020503060305020303" pitchFamily="18" charset="0"/>
              </a:rPr>
              <a:t>Flowchart</a:t>
            </a:r>
          </a:p>
          <a:p>
            <a:pPr marL="457200" indent="-457200">
              <a:buFont typeface="Wingdings" panose="05000000000000000000" pitchFamily="2" charset="2"/>
              <a:buChar char="v"/>
            </a:pPr>
            <a:r>
              <a:rPr lang="en-US" sz="2400" dirty="0">
                <a:latin typeface="Bell MT" panose="02020503060305020303" pitchFamily="18" charset="0"/>
              </a:rPr>
              <a:t>Program</a:t>
            </a:r>
          </a:p>
          <a:p>
            <a:pPr marL="457200" indent="-457200">
              <a:buFont typeface="Wingdings" panose="05000000000000000000" pitchFamily="2" charset="2"/>
              <a:buChar char="v"/>
            </a:pPr>
            <a:r>
              <a:rPr lang="en-US" sz="2400" dirty="0">
                <a:latin typeface="Bell MT" panose="02020503060305020303" pitchFamily="18" charset="0"/>
              </a:rPr>
              <a:t>Conclusion</a:t>
            </a:r>
          </a:p>
          <a:p>
            <a:endParaRPr lang="en-US" dirty="0"/>
          </a:p>
          <a:p>
            <a:endParaRPr lang="en-IN" dirty="0"/>
          </a:p>
        </p:txBody>
      </p:sp>
    </p:spTree>
    <p:extLst>
      <p:ext uri="{BB962C8B-B14F-4D97-AF65-F5344CB8AC3E}">
        <p14:creationId xmlns:p14="http://schemas.microsoft.com/office/powerpoint/2010/main" val="510240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BF83FF-70E2-AA61-6FF1-E8B358FE7AD0}"/>
              </a:ext>
            </a:extLst>
          </p:cNvPr>
          <p:cNvSpPr txBox="1"/>
          <p:nvPr/>
        </p:nvSpPr>
        <p:spPr>
          <a:xfrm>
            <a:off x="1082564" y="2575034"/>
            <a:ext cx="10804635" cy="1200329"/>
          </a:xfrm>
          <a:prstGeom prst="rect">
            <a:avLst/>
          </a:prstGeom>
          <a:noFill/>
        </p:spPr>
        <p:txBody>
          <a:bodyPr wrap="square">
            <a:spAutoFit/>
          </a:bodyPr>
          <a:lstStyle/>
          <a:p>
            <a:r>
              <a:rPr lang="en-US" sz="2400" b="0" i="0" dirty="0">
                <a:effectLst/>
                <a:latin typeface="Bell MT" panose="02020503060305020303" pitchFamily="18" charset="0"/>
              </a:rPr>
              <a:t>The aim of this project is to convert temperature values between Celsius and Fahrenheit. It helps users to easily understand temperature in different units. It reduces manual calculation errors and gives quick results.</a:t>
            </a:r>
            <a:endParaRPr lang="en-IN" sz="2400" dirty="0">
              <a:latin typeface="Bell MT" panose="02020503060305020303" pitchFamily="18" charset="0"/>
            </a:endParaRPr>
          </a:p>
        </p:txBody>
      </p:sp>
      <p:sp>
        <p:nvSpPr>
          <p:cNvPr id="4" name="TextBox 3">
            <a:extLst>
              <a:ext uri="{FF2B5EF4-FFF2-40B4-BE49-F238E27FC236}">
                <a16:creationId xmlns:a16="http://schemas.microsoft.com/office/drawing/2014/main" id="{F1E995F2-EB3C-686D-CA16-FF8C67BB5E78}"/>
              </a:ext>
            </a:extLst>
          </p:cNvPr>
          <p:cNvSpPr txBox="1"/>
          <p:nvPr/>
        </p:nvSpPr>
        <p:spPr>
          <a:xfrm>
            <a:off x="5178615" y="1425347"/>
            <a:ext cx="3865418" cy="707886"/>
          </a:xfrm>
          <a:prstGeom prst="rect">
            <a:avLst/>
          </a:prstGeom>
          <a:noFill/>
        </p:spPr>
        <p:txBody>
          <a:bodyPr wrap="square" rtlCol="0">
            <a:spAutoFit/>
          </a:bodyPr>
          <a:lstStyle/>
          <a:p>
            <a:r>
              <a:rPr lang="en-US" sz="4000" u="sng" dirty="0">
                <a:solidFill>
                  <a:schemeClr val="bg1"/>
                </a:solidFill>
                <a:latin typeface="Algerian" panose="04020705040A02060702" pitchFamily="82" charset="0"/>
              </a:rPr>
              <a:t>AIM</a:t>
            </a:r>
            <a:endParaRPr lang="en-IN" sz="4000" u="sng" dirty="0">
              <a:solidFill>
                <a:schemeClr val="bg1"/>
              </a:solidFill>
              <a:latin typeface="Algerian" panose="04020705040A02060702" pitchFamily="82" charset="0"/>
            </a:endParaRPr>
          </a:p>
        </p:txBody>
      </p:sp>
    </p:spTree>
    <p:extLst>
      <p:ext uri="{BB962C8B-B14F-4D97-AF65-F5344CB8AC3E}">
        <p14:creationId xmlns:p14="http://schemas.microsoft.com/office/powerpoint/2010/main" val="39459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95D0C-FAFA-7EA6-F17A-EBB005270454}"/>
              </a:ext>
            </a:extLst>
          </p:cNvPr>
          <p:cNvSpPr txBox="1"/>
          <p:nvPr/>
        </p:nvSpPr>
        <p:spPr>
          <a:xfrm>
            <a:off x="825061" y="1225689"/>
            <a:ext cx="10541877" cy="5632311"/>
          </a:xfrm>
          <a:prstGeom prst="rect">
            <a:avLst/>
          </a:prstGeom>
          <a:noFill/>
        </p:spPr>
        <p:txBody>
          <a:bodyPr wrap="square">
            <a:spAutoFit/>
          </a:bodyPr>
          <a:lstStyle/>
          <a:p>
            <a:pPr algn="l">
              <a:buNone/>
            </a:pPr>
            <a:r>
              <a:rPr lang="en-US" sz="2400" b="0" dirty="0">
                <a:effectLst/>
                <a:latin typeface="Bell MT" panose="02020503060305020303" pitchFamily="18" charset="0"/>
              </a:rPr>
              <a:t>This mini project is developed to create a simple program that converts temperature between Celsius and Fahrenheit. The program takes input from the user, performs the conversion using standard formulas, and displays the result as output.</a:t>
            </a:r>
          </a:p>
          <a:p>
            <a:pPr algn="l">
              <a:buNone/>
            </a:pPr>
            <a:endParaRPr lang="en-US" sz="2400" b="0" dirty="0">
              <a:effectLst/>
              <a:latin typeface="Bell MT" panose="02020503060305020303" pitchFamily="18" charset="0"/>
            </a:endParaRPr>
          </a:p>
          <a:p>
            <a:pPr algn="l">
              <a:buNone/>
            </a:pPr>
            <a:r>
              <a:rPr lang="en-US" sz="2400" b="0" dirty="0">
                <a:effectLst/>
                <a:latin typeface="Bell MT" panose="02020503060305020303" pitchFamily="18" charset="0"/>
              </a:rPr>
              <a:t> The program is designed using functions, which makes the code simple, reusable, and easy to understand. Each function is used to perform a specific task such as converting Celsius to Fahrenheit or Fahrenheit to Celsius.</a:t>
            </a:r>
          </a:p>
          <a:p>
            <a:pPr algn="l">
              <a:buNone/>
            </a:pPr>
            <a:endParaRPr lang="en-US" sz="2400" b="0" dirty="0">
              <a:effectLst/>
              <a:latin typeface="Bell MT" panose="02020503060305020303" pitchFamily="18" charset="0"/>
            </a:endParaRPr>
          </a:p>
          <a:p>
            <a:pPr algn="l">
              <a:buNone/>
            </a:pPr>
            <a:r>
              <a:rPr lang="en-US" sz="2400" b="0" dirty="0">
                <a:effectLst/>
                <a:latin typeface="Bell MT" panose="02020503060305020303" pitchFamily="18" charset="0"/>
              </a:rPr>
              <a:t> This project is helpful in real life as temperature conversion is commonly needed in weather reports, cooking, and scientific calculations. By using this program, the conversion process becomes faster, accurate, and easy. It also helps beginners to understand basic programming concepts and improves problem-solving skills.</a:t>
            </a:r>
          </a:p>
          <a:p>
            <a:pPr>
              <a:buNone/>
            </a:pPr>
            <a:br>
              <a:rPr lang="en-US" sz="2400" dirty="0">
                <a:latin typeface="Bell MT" panose="02020503060305020303" pitchFamily="18" charset="0"/>
              </a:rPr>
            </a:br>
            <a:endParaRPr lang="en-IN" sz="2400" dirty="0">
              <a:latin typeface="Bell MT" panose="02020503060305020303" pitchFamily="18" charset="0"/>
            </a:endParaRPr>
          </a:p>
        </p:txBody>
      </p:sp>
      <p:sp>
        <p:nvSpPr>
          <p:cNvPr id="5" name="TextBox 4">
            <a:extLst>
              <a:ext uri="{FF2B5EF4-FFF2-40B4-BE49-F238E27FC236}">
                <a16:creationId xmlns:a16="http://schemas.microsoft.com/office/drawing/2014/main" id="{63537522-0AA2-79BD-7CA2-8772F2CAE57E}"/>
              </a:ext>
            </a:extLst>
          </p:cNvPr>
          <p:cNvSpPr txBox="1"/>
          <p:nvPr/>
        </p:nvSpPr>
        <p:spPr>
          <a:xfrm>
            <a:off x="4032749" y="340511"/>
            <a:ext cx="5538354" cy="646331"/>
          </a:xfrm>
          <a:prstGeom prst="rect">
            <a:avLst/>
          </a:prstGeom>
          <a:noFill/>
        </p:spPr>
        <p:txBody>
          <a:bodyPr wrap="square" rtlCol="0">
            <a:spAutoFit/>
          </a:bodyPr>
          <a:lstStyle/>
          <a:p>
            <a:r>
              <a:rPr lang="en-US" sz="3600" u="sng" dirty="0">
                <a:solidFill>
                  <a:schemeClr val="bg1"/>
                </a:solidFill>
                <a:latin typeface="Algerian" panose="04020705040A02060702" pitchFamily="82" charset="0"/>
              </a:rPr>
              <a:t>INTRODUCTION</a:t>
            </a:r>
            <a:endParaRPr lang="en-IN" sz="3600" u="sng" dirty="0">
              <a:solidFill>
                <a:schemeClr val="bg1"/>
              </a:solidFill>
              <a:latin typeface="Algerian" panose="04020705040A02060702" pitchFamily="82" charset="0"/>
            </a:endParaRPr>
          </a:p>
        </p:txBody>
      </p:sp>
    </p:spTree>
    <p:extLst>
      <p:ext uri="{BB962C8B-B14F-4D97-AF65-F5344CB8AC3E}">
        <p14:creationId xmlns:p14="http://schemas.microsoft.com/office/powerpoint/2010/main" val="3483473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287F3F-1017-F1E0-082B-DB61E608832F}"/>
              </a:ext>
            </a:extLst>
          </p:cNvPr>
          <p:cNvSpPr txBox="1"/>
          <p:nvPr/>
        </p:nvSpPr>
        <p:spPr>
          <a:xfrm>
            <a:off x="4473346" y="843157"/>
            <a:ext cx="5787736" cy="707886"/>
          </a:xfrm>
          <a:prstGeom prst="rect">
            <a:avLst/>
          </a:prstGeom>
          <a:noFill/>
        </p:spPr>
        <p:txBody>
          <a:bodyPr wrap="square" rtlCol="0">
            <a:spAutoFit/>
          </a:bodyPr>
          <a:lstStyle/>
          <a:p>
            <a:r>
              <a:rPr lang="en-US" sz="4000" u="sng" dirty="0">
                <a:solidFill>
                  <a:schemeClr val="bg1"/>
                </a:solidFill>
                <a:latin typeface="Algerian" panose="04020705040A02060702" pitchFamily="82" charset="0"/>
              </a:rPr>
              <a:t>OBJECTIVES</a:t>
            </a:r>
            <a:endParaRPr lang="en-IN" sz="4000" u="sng" dirty="0">
              <a:solidFill>
                <a:schemeClr val="bg1"/>
              </a:solidFill>
              <a:latin typeface="Algerian" panose="04020705040A02060702" pitchFamily="82" charset="0"/>
            </a:endParaRPr>
          </a:p>
        </p:txBody>
      </p:sp>
      <p:sp>
        <p:nvSpPr>
          <p:cNvPr id="5" name="TextBox 4">
            <a:extLst>
              <a:ext uri="{FF2B5EF4-FFF2-40B4-BE49-F238E27FC236}">
                <a16:creationId xmlns:a16="http://schemas.microsoft.com/office/drawing/2014/main" id="{FD354F2B-9CC8-A612-DB3A-845F9B18FEA4}"/>
              </a:ext>
            </a:extLst>
          </p:cNvPr>
          <p:cNvSpPr txBox="1"/>
          <p:nvPr/>
        </p:nvSpPr>
        <p:spPr>
          <a:xfrm>
            <a:off x="809296" y="2521059"/>
            <a:ext cx="10352690" cy="1815882"/>
          </a:xfrm>
          <a:prstGeom prst="rect">
            <a:avLst/>
          </a:prstGeom>
          <a:noFill/>
        </p:spPr>
        <p:txBody>
          <a:bodyPr wrap="square">
            <a:spAutoFit/>
          </a:bodyPr>
          <a:lstStyle/>
          <a:p>
            <a:pPr marL="457200" indent="-457200">
              <a:buFont typeface="Wingdings" panose="05000000000000000000" pitchFamily="2" charset="2"/>
              <a:buChar char="q"/>
            </a:pPr>
            <a:r>
              <a:rPr lang="en-US" sz="2800" b="0" i="0" dirty="0">
                <a:effectLst/>
                <a:latin typeface="Bell MT" panose="02020503060305020303" pitchFamily="18" charset="0"/>
              </a:rPr>
              <a:t>To design a simple temperature conversion system</a:t>
            </a:r>
          </a:p>
          <a:p>
            <a:pPr marL="457200" indent="-457200">
              <a:buFont typeface="Wingdings" panose="05000000000000000000" pitchFamily="2" charset="2"/>
              <a:buChar char="q"/>
            </a:pPr>
            <a:r>
              <a:rPr lang="en-US" sz="2800" b="0" i="0" dirty="0">
                <a:effectLst/>
                <a:latin typeface="Bell MT" panose="02020503060305020303" pitchFamily="18" charset="0"/>
              </a:rPr>
              <a:t> To convert Celsius to Fahrenheit and Fahrenheit to Celsius</a:t>
            </a:r>
          </a:p>
          <a:p>
            <a:pPr marL="457200" indent="-457200">
              <a:buFont typeface="Wingdings" panose="05000000000000000000" pitchFamily="2" charset="2"/>
              <a:buChar char="q"/>
            </a:pPr>
            <a:r>
              <a:rPr lang="en-US" sz="2800" b="0" i="0" dirty="0">
                <a:effectLst/>
                <a:latin typeface="Bell MT" panose="02020503060305020303" pitchFamily="18" charset="0"/>
              </a:rPr>
              <a:t> To understand the use of formulas in programming To develop      basic HTML and JavaScript skills</a:t>
            </a:r>
            <a:endParaRPr lang="en-IN" sz="2800" dirty="0">
              <a:latin typeface="Bell MT" panose="02020503060305020303" pitchFamily="18" charset="0"/>
            </a:endParaRPr>
          </a:p>
        </p:txBody>
      </p:sp>
    </p:spTree>
    <p:extLst>
      <p:ext uri="{BB962C8B-B14F-4D97-AF65-F5344CB8AC3E}">
        <p14:creationId xmlns:p14="http://schemas.microsoft.com/office/powerpoint/2010/main" val="420581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5DCF-5D4B-902D-0A96-77382C8E804B}"/>
              </a:ext>
            </a:extLst>
          </p:cNvPr>
          <p:cNvSpPr>
            <a:spLocks noGrp="1"/>
          </p:cNvSpPr>
          <p:nvPr>
            <p:ph type="title"/>
          </p:nvPr>
        </p:nvSpPr>
        <p:spPr>
          <a:xfrm>
            <a:off x="4830544" y="650049"/>
            <a:ext cx="9905998" cy="1478570"/>
          </a:xfrm>
        </p:spPr>
        <p:txBody>
          <a:bodyPr>
            <a:normAutofit/>
          </a:bodyPr>
          <a:lstStyle/>
          <a:p>
            <a:r>
              <a:rPr lang="en-US" u="sng" dirty="0">
                <a:solidFill>
                  <a:schemeClr val="bg1"/>
                </a:solidFill>
                <a:latin typeface="Algerian" panose="04020705040A02060702" pitchFamily="82" charset="0"/>
              </a:rPr>
              <a:t>Features </a:t>
            </a:r>
            <a:endParaRPr lang="en-IN" u="sng" dirty="0">
              <a:solidFill>
                <a:schemeClr val="bg1"/>
              </a:solidFill>
              <a:latin typeface="Algerian" panose="04020705040A02060702" pitchFamily="82" charset="0"/>
            </a:endParaRPr>
          </a:p>
        </p:txBody>
      </p:sp>
      <p:sp>
        <p:nvSpPr>
          <p:cNvPr id="3" name="TextBox 2">
            <a:extLst>
              <a:ext uri="{FF2B5EF4-FFF2-40B4-BE49-F238E27FC236}">
                <a16:creationId xmlns:a16="http://schemas.microsoft.com/office/drawing/2014/main" id="{CA018E8E-9691-73B6-39F6-7F573FE86E8E}"/>
              </a:ext>
            </a:extLst>
          </p:cNvPr>
          <p:cNvSpPr txBox="1"/>
          <p:nvPr/>
        </p:nvSpPr>
        <p:spPr>
          <a:xfrm rot="10800000" flipH="1" flipV="1">
            <a:off x="1728951" y="2051726"/>
            <a:ext cx="8734097" cy="3046988"/>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Bell MT" panose="02020503060305020303" pitchFamily="18" charset="0"/>
              </a:rPr>
              <a:t>Convert Celsius to Fahrenheit</a:t>
            </a:r>
          </a:p>
          <a:p>
            <a:pPr marL="342900" indent="-342900">
              <a:buFont typeface="Wingdings" panose="05000000000000000000" pitchFamily="2" charset="2"/>
              <a:buChar char="q"/>
            </a:pPr>
            <a:r>
              <a:rPr lang="en-US" sz="2400" dirty="0">
                <a:latin typeface="Bell MT" panose="02020503060305020303" pitchFamily="18" charset="0"/>
              </a:rPr>
              <a:t>Convert Fahrenheit to Celsius</a:t>
            </a:r>
          </a:p>
          <a:p>
            <a:pPr marL="342900" indent="-342900">
              <a:buFont typeface="Wingdings" panose="05000000000000000000" pitchFamily="2" charset="2"/>
              <a:buChar char="q"/>
            </a:pPr>
            <a:r>
              <a:rPr lang="en-US" sz="2400" dirty="0">
                <a:latin typeface="Bell MT" panose="02020503060305020303" pitchFamily="18" charset="0"/>
              </a:rPr>
              <a:t>User input</a:t>
            </a:r>
          </a:p>
          <a:p>
            <a:pPr marL="342900" indent="-342900">
              <a:buFont typeface="Wingdings" panose="05000000000000000000" pitchFamily="2" charset="2"/>
              <a:buChar char="q"/>
            </a:pPr>
            <a:r>
              <a:rPr lang="en-US" sz="2400" dirty="0">
                <a:latin typeface="Bell MT" panose="02020503060305020303" pitchFamily="18" charset="0"/>
              </a:rPr>
              <a:t>Display Accurate Result</a:t>
            </a:r>
          </a:p>
          <a:p>
            <a:pPr marL="342900" indent="-342900">
              <a:buFont typeface="Wingdings" panose="05000000000000000000" pitchFamily="2" charset="2"/>
              <a:buChar char="q"/>
            </a:pPr>
            <a:r>
              <a:rPr lang="en-US" sz="2400" dirty="0">
                <a:latin typeface="Bell MT" panose="02020503060305020303" pitchFamily="18" charset="0"/>
              </a:rPr>
              <a:t>Easy to use</a:t>
            </a:r>
          </a:p>
          <a:p>
            <a:pPr marL="342900" indent="-342900">
              <a:buFont typeface="Wingdings" panose="05000000000000000000" pitchFamily="2" charset="2"/>
              <a:buChar char="q"/>
            </a:pPr>
            <a:r>
              <a:rPr lang="en-US" sz="2400" dirty="0">
                <a:latin typeface="Bell MT" panose="02020503060305020303" pitchFamily="18" charset="0"/>
              </a:rPr>
              <a:t>Fast Calculation</a:t>
            </a:r>
          </a:p>
          <a:p>
            <a:pPr marL="342900" indent="-342900">
              <a:buFont typeface="Wingdings" panose="05000000000000000000" pitchFamily="2" charset="2"/>
              <a:buChar char="q"/>
            </a:pPr>
            <a:r>
              <a:rPr lang="en-US" sz="2400" dirty="0">
                <a:latin typeface="Bell MT" panose="02020503060305020303" pitchFamily="18" charset="0"/>
              </a:rPr>
              <a:t>Menu Option</a:t>
            </a:r>
          </a:p>
          <a:p>
            <a:pPr marL="342900" indent="-342900">
              <a:buFont typeface="Wingdings" panose="05000000000000000000" pitchFamily="2" charset="2"/>
              <a:buChar char="q"/>
            </a:pPr>
            <a:r>
              <a:rPr lang="en-US" sz="2400" dirty="0">
                <a:latin typeface="Bell MT" panose="02020503060305020303" pitchFamily="18" charset="0"/>
              </a:rPr>
              <a:t>Repeat Option</a:t>
            </a:r>
            <a:endParaRPr lang="en-IN" sz="2400" dirty="0">
              <a:latin typeface="Bell MT" panose="02020503060305020303" pitchFamily="18" charset="0"/>
            </a:endParaRPr>
          </a:p>
        </p:txBody>
      </p:sp>
    </p:spTree>
    <p:extLst>
      <p:ext uri="{BB962C8B-B14F-4D97-AF65-F5344CB8AC3E}">
        <p14:creationId xmlns:p14="http://schemas.microsoft.com/office/powerpoint/2010/main" val="3268766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DEB7-1243-10E8-8A41-3488EFF23073}"/>
              </a:ext>
            </a:extLst>
          </p:cNvPr>
          <p:cNvSpPr>
            <a:spLocks noGrp="1"/>
          </p:cNvSpPr>
          <p:nvPr>
            <p:ph type="title"/>
          </p:nvPr>
        </p:nvSpPr>
        <p:spPr>
          <a:xfrm>
            <a:off x="4716435" y="514022"/>
            <a:ext cx="9906000" cy="1477961"/>
          </a:xfrm>
        </p:spPr>
        <p:txBody>
          <a:bodyPr>
            <a:normAutofit/>
          </a:bodyPr>
          <a:lstStyle/>
          <a:p>
            <a:r>
              <a:rPr lang="en-US" u="sng" dirty="0">
                <a:solidFill>
                  <a:schemeClr val="bg1"/>
                </a:solidFill>
                <a:latin typeface="Algerian" panose="04020705040A02060702" pitchFamily="82" charset="0"/>
              </a:rPr>
              <a:t>FORMULS</a:t>
            </a:r>
            <a:endParaRPr lang="en-IN" u="sng" dirty="0">
              <a:solidFill>
                <a:schemeClr val="bg1"/>
              </a:solidFill>
              <a:latin typeface="Algerian" panose="04020705040A02060702" pitchFamily="82" charset="0"/>
            </a:endParaRPr>
          </a:p>
        </p:txBody>
      </p:sp>
      <p:sp>
        <p:nvSpPr>
          <p:cNvPr id="3" name="Text Placeholder 2">
            <a:extLst>
              <a:ext uri="{FF2B5EF4-FFF2-40B4-BE49-F238E27FC236}">
                <a16:creationId xmlns:a16="http://schemas.microsoft.com/office/drawing/2014/main" id="{24AFDCDD-4392-B59F-B6A8-6567E5EDB518}"/>
              </a:ext>
            </a:extLst>
          </p:cNvPr>
          <p:cNvSpPr>
            <a:spLocks noGrp="1"/>
          </p:cNvSpPr>
          <p:nvPr>
            <p:ph type="body" idx="1"/>
          </p:nvPr>
        </p:nvSpPr>
        <p:spPr>
          <a:xfrm>
            <a:off x="1957303" y="1991983"/>
            <a:ext cx="4649783" cy="823912"/>
          </a:xfrm>
        </p:spPr>
        <p:txBody>
          <a:bodyPr>
            <a:noAutofit/>
          </a:bodyPr>
          <a:lstStyle/>
          <a:p>
            <a:r>
              <a:rPr lang="en-IN" sz="2800" dirty="0" err="1"/>
              <a:t>fahrenheit</a:t>
            </a:r>
            <a:r>
              <a:rPr lang="en-IN" sz="2800" dirty="0"/>
              <a:t> to Celsius</a:t>
            </a:r>
          </a:p>
          <a:p>
            <a:r>
              <a:rPr lang="en-IN" sz="2800" dirty="0"/>
              <a:t> = (c * 9/5) + 32</a:t>
            </a:r>
          </a:p>
        </p:txBody>
      </p:sp>
      <p:pic>
        <p:nvPicPr>
          <p:cNvPr id="8" name="Content Placeholder 7">
            <a:extLst>
              <a:ext uri="{FF2B5EF4-FFF2-40B4-BE49-F238E27FC236}">
                <a16:creationId xmlns:a16="http://schemas.microsoft.com/office/drawing/2014/main" id="{2D78A0DD-BC92-3ED1-E5DB-C436E1B44E76}"/>
              </a:ext>
            </a:extLst>
          </p:cNvPr>
          <p:cNvPicPr>
            <a:picLocks noGrp="1" noChangeAspect="1"/>
          </p:cNvPicPr>
          <p:nvPr>
            <p:ph sz="half" idx="2"/>
          </p:nvPr>
        </p:nvPicPr>
        <p:blipFill>
          <a:blip r:embed="rId2"/>
          <a:stretch>
            <a:fillRect/>
          </a:stretch>
        </p:blipFill>
        <p:spPr>
          <a:xfrm>
            <a:off x="1957303" y="3225797"/>
            <a:ext cx="2759132" cy="3573911"/>
          </a:xfrm>
          <a:prstGeom prst="rect">
            <a:avLst/>
          </a:prstGeom>
        </p:spPr>
      </p:pic>
      <p:sp>
        <p:nvSpPr>
          <p:cNvPr id="5" name="Text Placeholder 4">
            <a:extLst>
              <a:ext uri="{FF2B5EF4-FFF2-40B4-BE49-F238E27FC236}">
                <a16:creationId xmlns:a16="http://schemas.microsoft.com/office/drawing/2014/main" id="{9A226F6B-5120-4E24-8B68-39777773C56F}"/>
              </a:ext>
            </a:extLst>
          </p:cNvPr>
          <p:cNvSpPr>
            <a:spLocks noGrp="1"/>
          </p:cNvSpPr>
          <p:nvPr>
            <p:ph type="body" sz="quarter" idx="3"/>
          </p:nvPr>
        </p:nvSpPr>
        <p:spPr>
          <a:xfrm>
            <a:off x="6910495" y="1935629"/>
            <a:ext cx="4646602" cy="823912"/>
          </a:xfrm>
        </p:spPr>
        <p:txBody>
          <a:bodyPr>
            <a:noAutofit/>
          </a:bodyPr>
          <a:lstStyle/>
          <a:p>
            <a:r>
              <a:rPr lang="en-IN" sz="2800" dirty="0"/>
              <a:t>   CELSIUS TO FAHRENHEIT</a:t>
            </a:r>
          </a:p>
          <a:p>
            <a:r>
              <a:rPr lang="en-IN" sz="2800" dirty="0"/>
              <a:t>     c = (f - 32) * 5/9</a:t>
            </a:r>
          </a:p>
        </p:txBody>
      </p:sp>
      <p:pic>
        <p:nvPicPr>
          <p:cNvPr id="10" name="Content Placeholder 9">
            <a:extLst>
              <a:ext uri="{FF2B5EF4-FFF2-40B4-BE49-F238E27FC236}">
                <a16:creationId xmlns:a16="http://schemas.microsoft.com/office/drawing/2014/main" id="{897D8366-C082-4F55-B676-099BA1BEB1C6}"/>
              </a:ext>
            </a:extLst>
          </p:cNvPr>
          <p:cNvPicPr>
            <a:picLocks noGrp="1" noChangeAspect="1"/>
          </p:cNvPicPr>
          <p:nvPr>
            <p:ph sz="quarter" idx="4"/>
          </p:nvPr>
        </p:nvPicPr>
        <p:blipFill>
          <a:blip r:embed="rId3"/>
          <a:stretch>
            <a:fillRect/>
          </a:stretch>
        </p:blipFill>
        <p:spPr>
          <a:xfrm>
            <a:off x="6758160" y="3429000"/>
            <a:ext cx="4152485" cy="3073404"/>
          </a:xfrm>
          <a:prstGeom prst="rect">
            <a:avLst/>
          </a:prstGeom>
        </p:spPr>
      </p:pic>
    </p:spTree>
    <p:extLst>
      <p:ext uri="{BB962C8B-B14F-4D97-AF65-F5344CB8AC3E}">
        <p14:creationId xmlns:p14="http://schemas.microsoft.com/office/powerpoint/2010/main" val="389142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2DD854-6D78-58DC-6C27-59B88C4D8955}"/>
              </a:ext>
            </a:extLst>
          </p:cNvPr>
          <p:cNvSpPr txBox="1"/>
          <p:nvPr/>
        </p:nvSpPr>
        <p:spPr>
          <a:xfrm>
            <a:off x="1975945" y="1008993"/>
            <a:ext cx="6332541" cy="6186309"/>
          </a:xfrm>
          <a:prstGeom prst="rect">
            <a:avLst/>
          </a:prstGeom>
          <a:noFill/>
        </p:spPr>
        <p:txBody>
          <a:bodyPr wrap="square">
            <a:spAutoFit/>
          </a:bodyPr>
          <a:lstStyle/>
          <a:p>
            <a:pPr marL="457200" indent="-457200" algn="l">
              <a:lnSpc>
                <a:spcPct val="150000"/>
              </a:lnSpc>
              <a:buFont typeface="+mj-lt"/>
              <a:buAutoNum type="arabicPeriod"/>
            </a:pPr>
            <a:r>
              <a:rPr lang="en-US" sz="2000" b="0" i="0" dirty="0">
                <a:effectLst/>
                <a:latin typeface="Bell MT" panose="02020503060305020303" pitchFamily="18" charset="0"/>
              </a:rPr>
              <a:t>Start</a:t>
            </a:r>
          </a:p>
          <a:p>
            <a:pPr marL="457200" indent="-457200" algn="l">
              <a:lnSpc>
                <a:spcPct val="150000"/>
              </a:lnSpc>
              <a:buFont typeface="+mj-lt"/>
              <a:buAutoNum type="arabicPeriod"/>
            </a:pPr>
            <a:r>
              <a:rPr lang="en-US" sz="2000" b="0" i="0" dirty="0">
                <a:effectLst/>
                <a:latin typeface="Bell MT" panose="02020503060305020303" pitchFamily="18" charset="0"/>
              </a:rPr>
              <a:t> Enter the temperature value</a:t>
            </a:r>
          </a:p>
          <a:p>
            <a:pPr algn="l">
              <a:lnSpc>
                <a:spcPct val="150000"/>
              </a:lnSpc>
              <a:buNone/>
            </a:pPr>
            <a:r>
              <a:rPr lang="en-US" sz="2000" b="0" i="0" dirty="0">
                <a:effectLst/>
                <a:latin typeface="Bell MT" panose="02020503060305020303" pitchFamily="18" charset="0"/>
              </a:rPr>
              <a:t>3. Display options for conversion: </a:t>
            </a:r>
          </a:p>
          <a:p>
            <a:pPr algn="l">
              <a:lnSpc>
                <a:spcPct val="150000"/>
              </a:lnSpc>
              <a:buNone/>
            </a:pPr>
            <a:r>
              <a:rPr lang="en-US" sz="2000" dirty="0">
                <a:latin typeface="Bell MT" panose="02020503060305020303" pitchFamily="18" charset="0"/>
              </a:rPr>
              <a:t>    </a:t>
            </a:r>
            <a:r>
              <a:rPr lang="en-US" sz="2000" b="0" i="0" dirty="0">
                <a:effectLst/>
                <a:latin typeface="Bell MT" panose="02020503060305020303" pitchFamily="18" charset="0"/>
              </a:rPr>
              <a:t>a) Celsius to Fahrenheit </a:t>
            </a:r>
          </a:p>
          <a:p>
            <a:pPr algn="l">
              <a:lnSpc>
                <a:spcPct val="150000"/>
              </a:lnSpc>
              <a:buNone/>
            </a:pPr>
            <a:r>
              <a:rPr lang="en-US" sz="2000" dirty="0">
                <a:latin typeface="Bell MT" panose="02020503060305020303" pitchFamily="18" charset="0"/>
              </a:rPr>
              <a:t>   </a:t>
            </a:r>
            <a:r>
              <a:rPr lang="en-US" sz="2000" b="0" i="0" dirty="0">
                <a:effectLst/>
                <a:latin typeface="Bell MT" panose="02020503060305020303" pitchFamily="18" charset="0"/>
              </a:rPr>
              <a:t> b) Fahrenheit to Celsius</a:t>
            </a:r>
          </a:p>
          <a:p>
            <a:pPr algn="l">
              <a:lnSpc>
                <a:spcPct val="150000"/>
              </a:lnSpc>
              <a:buNone/>
            </a:pPr>
            <a:r>
              <a:rPr lang="en-US" sz="2000" dirty="0">
                <a:latin typeface="Bell MT" panose="02020503060305020303" pitchFamily="18" charset="0"/>
              </a:rPr>
              <a:t>4</a:t>
            </a:r>
            <a:r>
              <a:rPr lang="en-US" sz="2000" b="0" i="0" dirty="0">
                <a:effectLst/>
                <a:latin typeface="Bell MT" panose="02020503060305020303" pitchFamily="18" charset="0"/>
              </a:rPr>
              <a:t>.Read the user’s choice</a:t>
            </a:r>
          </a:p>
          <a:p>
            <a:pPr algn="l">
              <a:lnSpc>
                <a:spcPct val="150000"/>
              </a:lnSpc>
              <a:buNone/>
            </a:pPr>
            <a:r>
              <a:rPr lang="en-US" sz="2000" b="0" i="0" dirty="0">
                <a:effectLst/>
                <a:latin typeface="Bell MT" panose="02020503060305020303" pitchFamily="18" charset="0"/>
              </a:rPr>
              <a:t>5. If the choice is Celsius to Fahrenheit, then  </a:t>
            </a:r>
          </a:p>
          <a:p>
            <a:pPr algn="l">
              <a:lnSpc>
                <a:spcPct val="150000"/>
              </a:lnSpc>
              <a:buNone/>
            </a:pPr>
            <a:r>
              <a:rPr lang="en-US" sz="2000" b="0" i="0" dirty="0">
                <a:effectLst/>
                <a:latin typeface="Bell MT" panose="02020503060305020303" pitchFamily="18" charset="0"/>
              </a:rPr>
              <a:t> F = (C × 9/5) + 32</a:t>
            </a:r>
          </a:p>
          <a:p>
            <a:pPr algn="l">
              <a:lnSpc>
                <a:spcPct val="150000"/>
              </a:lnSpc>
              <a:buNone/>
            </a:pPr>
            <a:r>
              <a:rPr lang="en-US" sz="2000" b="0" i="0" dirty="0">
                <a:effectLst/>
                <a:latin typeface="Bell MT" panose="02020503060305020303" pitchFamily="18" charset="0"/>
              </a:rPr>
              <a:t>6. Else if the choice is Fahrenheit to Celsius, then </a:t>
            </a:r>
          </a:p>
          <a:p>
            <a:pPr algn="l">
              <a:lnSpc>
                <a:spcPct val="150000"/>
              </a:lnSpc>
              <a:buNone/>
            </a:pPr>
            <a:r>
              <a:rPr lang="en-US" sz="2000" b="0" i="0" dirty="0">
                <a:effectLst/>
                <a:latin typeface="Bell MT" panose="02020503060305020303" pitchFamily="18" charset="0"/>
              </a:rPr>
              <a:t>  C = (F − 32) × 5/9 </a:t>
            </a:r>
          </a:p>
          <a:p>
            <a:pPr algn="l">
              <a:lnSpc>
                <a:spcPct val="150000"/>
              </a:lnSpc>
              <a:buNone/>
            </a:pPr>
            <a:r>
              <a:rPr lang="en-US" sz="2000" b="0" i="0" dirty="0">
                <a:effectLst/>
                <a:latin typeface="Bell MT" panose="02020503060305020303" pitchFamily="18" charset="0"/>
              </a:rPr>
              <a:t> 7. Display the converted temperature </a:t>
            </a:r>
          </a:p>
          <a:p>
            <a:pPr algn="l">
              <a:lnSpc>
                <a:spcPct val="150000"/>
              </a:lnSpc>
              <a:buNone/>
            </a:pPr>
            <a:r>
              <a:rPr lang="en-US" sz="2000" b="0" i="0" dirty="0">
                <a:effectLst/>
                <a:latin typeface="Bell MT" panose="02020503060305020303" pitchFamily="18" charset="0"/>
              </a:rPr>
              <a:t> 8.Stop</a:t>
            </a:r>
          </a:p>
          <a:p>
            <a:pPr>
              <a:buNone/>
            </a:pPr>
            <a:br>
              <a:rPr lang="en-US" dirty="0"/>
            </a:br>
            <a:endParaRPr lang="en-IN" dirty="0"/>
          </a:p>
        </p:txBody>
      </p:sp>
      <p:sp>
        <p:nvSpPr>
          <p:cNvPr id="4" name="TextBox 3">
            <a:extLst>
              <a:ext uri="{FF2B5EF4-FFF2-40B4-BE49-F238E27FC236}">
                <a16:creationId xmlns:a16="http://schemas.microsoft.com/office/drawing/2014/main" id="{D59CF13E-8E9F-C49D-C80A-5085185C5A43}"/>
              </a:ext>
            </a:extLst>
          </p:cNvPr>
          <p:cNvSpPr txBox="1"/>
          <p:nvPr/>
        </p:nvSpPr>
        <p:spPr>
          <a:xfrm flipH="1">
            <a:off x="4638490" y="199697"/>
            <a:ext cx="4495000" cy="646331"/>
          </a:xfrm>
          <a:prstGeom prst="rect">
            <a:avLst/>
          </a:prstGeom>
          <a:noFill/>
        </p:spPr>
        <p:txBody>
          <a:bodyPr wrap="square" rtlCol="0">
            <a:spAutoFit/>
          </a:bodyPr>
          <a:lstStyle/>
          <a:p>
            <a:r>
              <a:rPr lang="en-US" sz="3600" u="sng" dirty="0">
                <a:solidFill>
                  <a:schemeClr val="bg1"/>
                </a:solidFill>
                <a:latin typeface="Algerian" panose="04020705040A02060702" pitchFamily="82" charset="0"/>
              </a:rPr>
              <a:t>ALGORITHM</a:t>
            </a:r>
            <a:endParaRPr lang="en-IN" sz="3600" u="sng" dirty="0">
              <a:solidFill>
                <a:schemeClr val="bg1"/>
              </a:solidFill>
              <a:latin typeface="Algerian" panose="04020705040A02060702" pitchFamily="82" charset="0"/>
            </a:endParaRPr>
          </a:p>
        </p:txBody>
      </p:sp>
    </p:spTree>
    <p:extLst>
      <p:ext uri="{BB962C8B-B14F-4D97-AF65-F5344CB8AC3E}">
        <p14:creationId xmlns:p14="http://schemas.microsoft.com/office/powerpoint/2010/main" val="22563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3B9E5AB-B8D6-AB60-4F9B-649723C83F4D}"/>
              </a:ext>
            </a:extLst>
          </p:cNvPr>
          <p:cNvSpPr/>
          <p:nvPr/>
        </p:nvSpPr>
        <p:spPr>
          <a:xfrm flipH="1">
            <a:off x="4111855" y="220719"/>
            <a:ext cx="1166648" cy="38888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t>Start</a:t>
            </a:r>
          </a:p>
        </p:txBody>
      </p:sp>
      <p:sp>
        <p:nvSpPr>
          <p:cNvPr id="5" name="Arrow: Down 4">
            <a:extLst>
              <a:ext uri="{FF2B5EF4-FFF2-40B4-BE49-F238E27FC236}">
                <a16:creationId xmlns:a16="http://schemas.microsoft.com/office/drawing/2014/main" id="{1DDD222F-5F2D-693E-3934-7D65B10692BD}"/>
              </a:ext>
            </a:extLst>
          </p:cNvPr>
          <p:cNvSpPr/>
          <p:nvPr/>
        </p:nvSpPr>
        <p:spPr>
          <a:xfrm>
            <a:off x="4614040" y="620111"/>
            <a:ext cx="136636" cy="388882"/>
          </a:xfrm>
          <a:prstGeom prst="downArrow">
            <a:avLst>
              <a:gd name="adj1" fmla="val 50000"/>
              <a:gd name="adj2" fmla="val 52168"/>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Flowchart: Data 5">
            <a:extLst>
              <a:ext uri="{FF2B5EF4-FFF2-40B4-BE49-F238E27FC236}">
                <a16:creationId xmlns:a16="http://schemas.microsoft.com/office/drawing/2014/main" id="{CE7BF2D7-D467-F334-1FA2-A5E28014B214}"/>
              </a:ext>
            </a:extLst>
          </p:cNvPr>
          <p:cNvSpPr/>
          <p:nvPr/>
        </p:nvSpPr>
        <p:spPr>
          <a:xfrm>
            <a:off x="3197454" y="1019506"/>
            <a:ext cx="3216167" cy="388882"/>
          </a:xfrm>
          <a:prstGeom prst="flowChartInputOutp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Enter Temperature</a:t>
            </a:r>
            <a:endParaRPr lang="en-IN" dirty="0"/>
          </a:p>
        </p:txBody>
      </p:sp>
      <p:sp>
        <p:nvSpPr>
          <p:cNvPr id="7" name="Rectangle 6">
            <a:extLst>
              <a:ext uri="{FF2B5EF4-FFF2-40B4-BE49-F238E27FC236}">
                <a16:creationId xmlns:a16="http://schemas.microsoft.com/office/drawing/2014/main" id="{CB2517BC-81D4-04EE-010E-294481C23929}"/>
              </a:ext>
            </a:extLst>
          </p:cNvPr>
          <p:cNvSpPr/>
          <p:nvPr/>
        </p:nvSpPr>
        <p:spPr>
          <a:xfrm flipH="1">
            <a:off x="3558906" y="1807780"/>
            <a:ext cx="2070538" cy="10510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Select Conversion  1. C → F </a:t>
            </a:r>
          </a:p>
          <a:p>
            <a:pPr algn="ctr"/>
            <a:r>
              <a:rPr lang="en-US" dirty="0"/>
              <a:t> 2. F → C</a:t>
            </a:r>
            <a:endParaRPr lang="en-IN" dirty="0"/>
          </a:p>
        </p:txBody>
      </p:sp>
      <p:sp>
        <p:nvSpPr>
          <p:cNvPr id="8" name="Arrow: Down 7">
            <a:extLst>
              <a:ext uri="{FF2B5EF4-FFF2-40B4-BE49-F238E27FC236}">
                <a16:creationId xmlns:a16="http://schemas.microsoft.com/office/drawing/2014/main" id="{4A2A3C7E-9927-F69C-A6AD-8FBB105B6F11}"/>
              </a:ext>
            </a:extLst>
          </p:cNvPr>
          <p:cNvSpPr/>
          <p:nvPr/>
        </p:nvSpPr>
        <p:spPr>
          <a:xfrm>
            <a:off x="4597698" y="1418898"/>
            <a:ext cx="169320" cy="388882"/>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Diamond 8">
            <a:extLst>
              <a:ext uri="{FF2B5EF4-FFF2-40B4-BE49-F238E27FC236}">
                <a16:creationId xmlns:a16="http://schemas.microsoft.com/office/drawing/2014/main" id="{51BC36DB-2430-3170-CD59-1FA1AEF15B75}"/>
              </a:ext>
            </a:extLst>
          </p:cNvPr>
          <p:cNvSpPr/>
          <p:nvPr/>
        </p:nvSpPr>
        <p:spPr>
          <a:xfrm>
            <a:off x="3197454" y="3153104"/>
            <a:ext cx="3014159" cy="1051034"/>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Choice == 1 ?</a:t>
            </a:r>
            <a:endParaRPr lang="en-IN" dirty="0"/>
          </a:p>
        </p:txBody>
      </p:sp>
      <p:sp>
        <p:nvSpPr>
          <p:cNvPr id="10" name="Arrow: Down 9">
            <a:extLst>
              <a:ext uri="{FF2B5EF4-FFF2-40B4-BE49-F238E27FC236}">
                <a16:creationId xmlns:a16="http://schemas.microsoft.com/office/drawing/2014/main" id="{853DA757-0DC9-D5E0-ECC5-55D4527D3201}"/>
              </a:ext>
            </a:extLst>
          </p:cNvPr>
          <p:cNvSpPr/>
          <p:nvPr/>
        </p:nvSpPr>
        <p:spPr>
          <a:xfrm>
            <a:off x="4594175" y="2848304"/>
            <a:ext cx="211363" cy="304800"/>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99F875E3-CCCB-8291-A8AC-C4EAEDAC054E}"/>
              </a:ext>
            </a:extLst>
          </p:cNvPr>
          <p:cNvSpPr/>
          <p:nvPr/>
        </p:nvSpPr>
        <p:spPr>
          <a:xfrm>
            <a:off x="3237187" y="4477408"/>
            <a:ext cx="2858813" cy="472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F = (C×9/5) + 32</a:t>
            </a:r>
          </a:p>
        </p:txBody>
      </p:sp>
      <p:sp>
        <p:nvSpPr>
          <p:cNvPr id="12" name="Arrow: Down 11">
            <a:extLst>
              <a:ext uri="{FF2B5EF4-FFF2-40B4-BE49-F238E27FC236}">
                <a16:creationId xmlns:a16="http://schemas.microsoft.com/office/drawing/2014/main" id="{5E2BDFCE-656B-36FE-3E6C-CAE1DB579AB6}"/>
              </a:ext>
            </a:extLst>
          </p:cNvPr>
          <p:cNvSpPr/>
          <p:nvPr/>
        </p:nvSpPr>
        <p:spPr>
          <a:xfrm>
            <a:off x="4614040" y="4193629"/>
            <a:ext cx="191498" cy="283780"/>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3" name="Flowchart: Data 12">
            <a:extLst>
              <a:ext uri="{FF2B5EF4-FFF2-40B4-BE49-F238E27FC236}">
                <a16:creationId xmlns:a16="http://schemas.microsoft.com/office/drawing/2014/main" id="{D9878AE8-5407-463B-F9C6-C2AB6EAC9FDA}"/>
              </a:ext>
            </a:extLst>
          </p:cNvPr>
          <p:cNvSpPr/>
          <p:nvPr/>
        </p:nvSpPr>
        <p:spPr>
          <a:xfrm>
            <a:off x="3188099" y="5244662"/>
            <a:ext cx="3014159" cy="346842"/>
          </a:xfrm>
          <a:prstGeom prst="flowChartInputOutput">
            <a:avLst/>
          </a:prstGeom>
        </p:spPr>
        <p:style>
          <a:lnRef idx="2">
            <a:schemeClr val="accent6"/>
          </a:lnRef>
          <a:fillRef idx="1">
            <a:schemeClr val="lt1"/>
          </a:fillRef>
          <a:effectRef idx="0">
            <a:schemeClr val="accent6"/>
          </a:effectRef>
          <a:fontRef idx="minor">
            <a:schemeClr val="dk1"/>
          </a:fontRef>
        </p:style>
        <p:txBody>
          <a:bodyPr rtlCol="0" anchor="ctr"/>
          <a:lstStyle/>
          <a:p>
            <a:r>
              <a:rPr lang="en-IN"/>
              <a:t>Display Result (F) </a:t>
            </a:r>
            <a:endParaRPr lang="en-IN" dirty="0"/>
          </a:p>
        </p:txBody>
      </p:sp>
      <p:sp>
        <p:nvSpPr>
          <p:cNvPr id="14" name="Arrow: Down 13">
            <a:extLst>
              <a:ext uri="{FF2B5EF4-FFF2-40B4-BE49-F238E27FC236}">
                <a16:creationId xmlns:a16="http://schemas.microsoft.com/office/drawing/2014/main" id="{09B333D2-F862-C2CD-0B8E-532E2BEBF5E2}"/>
              </a:ext>
            </a:extLst>
          </p:cNvPr>
          <p:cNvSpPr/>
          <p:nvPr/>
        </p:nvSpPr>
        <p:spPr>
          <a:xfrm>
            <a:off x="4607632" y="4960887"/>
            <a:ext cx="143044" cy="273267"/>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Oval 14">
            <a:extLst>
              <a:ext uri="{FF2B5EF4-FFF2-40B4-BE49-F238E27FC236}">
                <a16:creationId xmlns:a16="http://schemas.microsoft.com/office/drawing/2014/main" id="{1FDF7B72-E4BD-E265-C8E7-F692F4F51A48}"/>
              </a:ext>
            </a:extLst>
          </p:cNvPr>
          <p:cNvSpPr/>
          <p:nvPr/>
        </p:nvSpPr>
        <p:spPr>
          <a:xfrm>
            <a:off x="4123260" y="5912074"/>
            <a:ext cx="1287515" cy="4992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End</a:t>
            </a:r>
          </a:p>
        </p:txBody>
      </p:sp>
      <p:sp>
        <p:nvSpPr>
          <p:cNvPr id="16" name="Arrow: Down 15">
            <a:extLst>
              <a:ext uri="{FF2B5EF4-FFF2-40B4-BE49-F238E27FC236}">
                <a16:creationId xmlns:a16="http://schemas.microsoft.com/office/drawing/2014/main" id="{B3E1BBC4-7933-2A5C-70B7-28403A6397A5}"/>
              </a:ext>
            </a:extLst>
          </p:cNvPr>
          <p:cNvSpPr/>
          <p:nvPr/>
        </p:nvSpPr>
        <p:spPr>
          <a:xfrm>
            <a:off x="4632116" y="5591504"/>
            <a:ext cx="126123" cy="34684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TextBox 24">
            <a:extLst>
              <a:ext uri="{FF2B5EF4-FFF2-40B4-BE49-F238E27FC236}">
                <a16:creationId xmlns:a16="http://schemas.microsoft.com/office/drawing/2014/main" id="{822081B6-3981-7662-CD5E-4E36C217327D}"/>
              </a:ext>
            </a:extLst>
          </p:cNvPr>
          <p:cNvSpPr txBox="1"/>
          <p:nvPr/>
        </p:nvSpPr>
        <p:spPr>
          <a:xfrm>
            <a:off x="924791" y="384464"/>
            <a:ext cx="2795154" cy="584775"/>
          </a:xfrm>
          <a:prstGeom prst="rect">
            <a:avLst/>
          </a:prstGeom>
          <a:noFill/>
        </p:spPr>
        <p:txBody>
          <a:bodyPr wrap="square" rtlCol="0">
            <a:spAutoFit/>
          </a:bodyPr>
          <a:lstStyle/>
          <a:p>
            <a:r>
              <a:rPr lang="en-US" sz="3200" u="sng" dirty="0">
                <a:solidFill>
                  <a:schemeClr val="bg1"/>
                </a:solidFill>
                <a:latin typeface="Algerian" panose="04020705040A02060702" pitchFamily="82" charset="0"/>
              </a:rPr>
              <a:t>FLOWCHART</a:t>
            </a:r>
            <a:endParaRPr lang="en-IN" sz="3200" u="sng" dirty="0">
              <a:solidFill>
                <a:schemeClr val="bg1"/>
              </a:solidFill>
              <a:latin typeface="Algerian" panose="04020705040A02060702" pitchFamily="82" charset="0"/>
            </a:endParaRPr>
          </a:p>
        </p:txBody>
      </p:sp>
    </p:spTree>
    <p:extLst>
      <p:ext uri="{BB962C8B-B14F-4D97-AF65-F5344CB8AC3E}">
        <p14:creationId xmlns:p14="http://schemas.microsoft.com/office/powerpoint/2010/main" val="3838278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501B3-CA46-ED21-1E24-282211388FC6}"/>
              </a:ext>
            </a:extLst>
          </p:cNvPr>
          <p:cNvSpPr txBox="1"/>
          <p:nvPr/>
        </p:nvSpPr>
        <p:spPr>
          <a:xfrm>
            <a:off x="1334813" y="189186"/>
            <a:ext cx="11613931" cy="6332789"/>
          </a:xfrm>
          <a:prstGeom prst="rect">
            <a:avLst/>
          </a:prstGeom>
          <a:noFill/>
        </p:spPr>
        <p:txBody>
          <a:bodyPr wrap="square" numCol="2">
            <a:spAutoFit/>
          </a:bodyPr>
          <a:lstStyle/>
          <a:p>
            <a:r>
              <a:rPr lang="en-IN" sz="1400" dirty="0">
                <a:latin typeface="Aptos Display" panose="020B0004020202020204" pitchFamily="34" charset="0"/>
              </a:rPr>
              <a:t>&lt;!DOCTYPE html&gt;</a:t>
            </a:r>
          </a:p>
          <a:p>
            <a:r>
              <a:rPr lang="en-IN" sz="1400" dirty="0">
                <a:latin typeface="Aptos Display" panose="020B0004020202020204" pitchFamily="34" charset="0"/>
              </a:rPr>
              <a:t>&lt;html&gt;</a:t>
            </a:r>
          </a:p>
          <a:p>
            <a:r>
              <a:rPr lang="en-IN" sz="1400" dirty="0">
                <a:latin typeface="Aptos Display" panose="020B0004020202020204" pitchFamily="34" charset="0"/>
              </a:rPr>
              <a:t>&lt;head&gt;</a:t>
            </a:r>
          </a:p>
          <a:p>
            <a:r>
              <a:rPr lang="en-IN" sz="1400" dirty="0">
                <a:latin typeface="Aptos Display" panose="020B0004020202020204" pitchFamily="34" charset="0"/>
              </a:rPr>
              <a:t>&lt;title&gt;Temperature Converter&lt;/title&gt;</a:t>
            </a:r>
          </a:p>
          <a:p>
            <a:r>
              <a:rPr lang="en-IN" sz="1400" dirty="0">
                <a:latin typeface="Aptos Display" panose="020B0004020202020204" pitchFamily="34" charset="0"/>
              </a:rPr>
              <a:t>&lt;/head&gt;</a:t>
            </a:r>
          </a:p>
          <a:p>
            <a:r>
              <a:rPr lang="en-IN" sz="1400" dirty="0">
                <a:latin typeface="Aptos Display" panose="020B0004020202020204" pitchFamily="34" charset="0"/>
              </a:rPr>
              <a:t>&lt;body&gt;</a:t>
            </a:r>
          </a:p>
          <a:p>
            <a:endParaRPr lang="en-IN" sz="1400" dirty="0">
              <a:latin typeface="Aptos Display" panose="020B0004020202020204" pitchFamily="34" charset="0"/>
            </a:endParaRPr>
          </a:p>
          <a:p>
            <a:r>
              <a:rPr lang="en-IN" sz="1400" dirty="0">
                <a:latin typeface="Aptos Display" panose="020B0004020202020204" pitchFamily="34" charset="0"/>
              </a:rPr>
              <a:t>&lt;h2&gt;Temperature Converter&lt;/h2&gt;</a:t>
            </a:r>
          </a:p>
          <a:p>
            <a:endParaRPr lang="en-IN" sz="1400" dirty="0">
              <a:latin typeface="Aptos Display" panose="020B0004020202020204" pitchFamily="34" charset="0"/>
            </a:endParaRPr>
          </a:p>
          <a:p>
            <a:r>
              <a:rPr lang="en-IN" sz="1400" dirty="0">
                <a:latin typeface="Aptos Display" panose="020B0004020202020204" pitchFamily="34" charset="0"/>
              </a:rPr>
              <a:t>&lt;input type="number" id="temp" placeholder="Enter temperature"&gt;</a:t>
            </a:r>
          </a:p>
          <a:p>
            <a:r>
              <a:rPr lang="en-IN" sz="1400" dirty="0">
                <a:latin typeface="Aptos Display" panose="020B0004020202020204" pitchFamily="34" charset="0"/>
              </a:rPr>
              <a:t>&lt;</a:t>
            </a:r>
            <a:r>
              <a:rPr lang="en-IN" sz="1400" dirty="0" err="1">
                <a:latin typeface="Aptos Display" panose="020B0004020202020204" pitchFamily="34" charset="0"/>
              </a:rPr>
              <a:t>br</a:t>
            </a:r>
            <a:r>
              <a:rPr lang="en-IN" sz="1400" dirty="0">
                <a:latin typeface="Aptos Display" panose="020B0004020202020204" pitchFamily="34" charset="0"/>
              </a:rPr>
              <a:t>&gt;&lt;</a:t>
            </a:r>
            <a:r>
              <a:rPr lang="en-IN" sz="1400" dirty="0" err="1">
                <a:latin typeface="Aptos Display" panose="020B0004020202020204" pitchFamily="34" charset="0"/>
              </a:rPr>
              <a:t>br</a:t>
            </a:r>
            <a:r>
              <a:rPr lang="en-IN" sz="1400" dirty="0">
                <a:latin typeface="Aptos Display" panose="020B0004020202020204" pitchFamily="34" charset="0"/>
              </a:rPr>
              <a:t>&gt;</a:t>
            </a:r>
          </a:p>
          <a:p>
            <a:endParaRPr lang="en-IN" sz="1400" dirty="0">
              <a:latin typeface="Aptos Display" panose="020B0004020202020204" pitchFamily="34" charset="0"/>
            </a:endParaRPr>
          </a:p>
          <a:p>
            <a:r>
              <a:rPr lang="en-IN" sz="1400" dirty="0">
                <a:latin typeface="Aptos Display" panose="020B0004020202020204" pitchFamily="34" charset="0"/>
              </a:rPr>
              <a:t>&lt;button onclick="</a:t>
            </a:r>
            <a:r>
              <a:rPr lang="en-IN" sz="1400" dirty="0" err="1">
                <a:latin typeface="Aptos Display" panose="020B0004020202020204" pitchFamily="34" charset="0"/>
              </a:rPr>
              <a:t>toFahrenheit</a:t>
            </a:r>
            <a:r>
              <a:rPr lang="en-IN" sz="1400" dirty="0">
                <a:latin typeface="Aptos Display" panose="020B0004020202020204" pitchFamily="34" charset="0"/>
              </a:rPr>
              <a:t>()"&gt;Convert to Fahrenheit&lt;/button&gt;</a:t>
            </a:r>
          </a:p>
          <a:p>
            <a:r>
              <a:rPr lang="en-IN" sz="1400" dirty="0">
                <a:latin typeface="Aptos Display" panose="020B0004020202020204" pitchFamily="34" charset="0"/>
              </a:rPr>
              <a:t>&lt;button onclick="</a:t>
            </a:r>
            <a:r>
              <a:rPr lang="en-IN" sz="1400" dirty="0" err="1">
                <a:latin typeface="Aptos Display" panose="020B0004020202020204" pitchFamily="34" charset="0"/>
              </a:rPr>
              <a:t>toCelsius</a:t>
            </a:r>
            <a:r>
              <a:rPr lang="en-IN" sz="1400" dirty="0">
                <a:latin typeface="Aptos Display" panose="020B0004020202020204" pitchFamily="34" charset="0"/>
              </a:rPr>
              <a:t>()"&gt;Convert to Celsius&lt;/button&gt;</a:t>
            </a:r>
          </a:p>
          <a:p>
            <a:endParaRPr lang="en-IN" sz="1400" dirty="0">
              <a:latin typeface="Aptos Display" panose="020B0004020202020204" pitchFamily="34" charset="0"/>
            </a:endParaRPr>
          </a:p>
          <a:p>
            <a:r>
              <a:rPr lang="en-IN" sz="1400" dirty="0">
                <a:latin typeface="Aptos Display" panose="020B0004020202020204" pitchFamily="34" charset="0"/>
              </a:rPr>
              <a:t>&lt;p id="result"&gt;&lt;/p&gt;</a:t>
            </a:r>
          </a:p>
          <a:p>
            <a:endParaRPr lang="en-IN" sz="1400" dirty="0">
              <a:latin typeface="Aptos Display" panose="020B0004020202020204" pitchFamily="34" charset="0"/>
            </a:endParaRPr>
          </a:p>
          <a:p>
            <a:r>
              <a:rPr lang="en-IN" sz="1400" dirty="0">
                <a:latin typeface="Aptos Display" panose="020B0004020202020204" pitchFamily="34" charset="0"/>
              </a:rPr>
              <a:t>&lt;script&gt;</a:t>
            </a:r>
          </a:p>
          <a:p>
            <a:r>
              <a:rPr lang="en-IN" sz="1400" dirty="0">
                <a:latin typeface="Aptos Display" panose="020B0004020202020204" pitchFamily="34" charset="0"/>
              </a:rPr>
              <a:t>function </a:t>
            </a:r>
            <a:r>
              <a:rPr lang="en-IN" sz="1400" dirty="0" err="1">
                <a:latin typeface="Aptos Display" panose="020B0004020202020204" pitchFamily="34" charset="0"/>
              </a:rPr>
              <a:t>toFahrenheit</a:t>
            </a:r>
            <a:r>
              <a:rPr lang="en-IN" sz="1400" dirty="0">
                <a:latin typeface="Aptos Display" panose="020B0004020202020204" pitchFamily="34" charset="0"/>
              </a:rPr>
              <a:t>() {</a:t>
            </a:r>
          </a:p>
          <a:p>
            <a:r>
              <a:rPr lang="en-IN" sz="1400" dirty="0">
                <a:latin typeface="Aptos Display" panose="020B0004020202020204" pitchFamily="34" charset="0"/>
              </a:rPr>
              <a:t>    let c = </a:t>
            </a:r>
            <a:r>
              <a:rPr lang="en-IN" sz="1400" dirty="0" err="1">
                <a:latin typeface="Aptos Display" panose="020B0004020202020204" pitchFamily="34" charset="0"/>
              </a:rPr>
              <a:t>parseFloat</a:t>
            </a:r>
            <a:r>
              <a:rPr lang="en-IN" sz="1400" dirty="0">
                <a:latin typeface="Aptos Display" panose="020B0004020202020204" pitchFamily="34" charset="0"/>
              </a:rPr>
              <a:t>(</a:t>
            </a:r>
            <a:r>
              <a:rPr lang="en-IN" sz="1400" dirty="0" err="1">
                <a:latin typeface="Aptos Display" panose="020B0004020202020204" pitchFamily="34" charset="0"/>
              </a:rPr>
              <a:t>document.getElementById</a:t>
            </a:r>
            <a:r>
              <a:rPr lang="en-IN" sz="1400" dirty="0">
                <a:latin typeface="Aptos Display" panose="020B0004020202020204" pitchFamily="34" charset="0"/>
              </a:rPr>
              <a:t>("temp").value);</a:t>
            </a:r>
          </a:p>
          <a:p>
            <a:r>
              <a:rPr lang="en-IN" sz="1400" dirty="0">
                <a:latin typeface="Aptos Display" panose="020B0004020202020204" pitchFamily="34" charset="0"/>
              </a:rPr>
              <a:t>    let f = (c * 9/5) + 32;</a:t>
            </a:r>
          </a:p>
          <a:p>
            <a:r>
              <a:rPr lang="en-IN" sz="1400" dirty="0">
                <a:latin typeface="Aptos Display" panose="020B0004020202020204" pitchFamily="34" charset="0"/>
              </a:rPr>
              <a:t>    </a:t>
            </a:r>
            <a:r>
              <a:rPr lang="en-IN" sz="1400" dirty="0" err="1">
                <a:latin typeface="Aptos Display" panose="020B0004020202020204" pitchFamily="34" charset="0"/>
              </a:rPr>
              <a:t>document.getElementById</a:t>
            </a:r>
            <a:r>
              <a:rPr lang="en-IN" sz="1400" dirty="0">
                <a:latin typeface="Aptos Display" panose="020B0004020202020204" pitchFamily="34" charset="0"/>
              </a:rPr>
              <a:t>("result").</a:t>
            </a:r>
            <a:r>
              <a:rPr lang="en-IN" sz="1400" dirty="0" err="1">
                <a:latin typeface="Aptos Display" panose="020B0004020202020204" pitchFamily="34" charset="0"/>
              </a:rPr>
              <a:t>innerHTML</a:t>
            </a:r>
            <a:r>
              <a:rPr lang="en-IN" sz="1400" dirty="0">
                <a:latin typeface="Aptos Display" panose="020B0004020202020204" pitchFamily="34" charset="0"/>
              </a:rPr>
              <a:t> = "Fahrenheit: " + f;</a:t>
            </a:r>
          </a:p>
          <a:p>
            <a:r>
              <a:rPr lang="en-IN" sz="1400" dirty="0">
                <a:latin typeface="Aptos Display" panose="020B0004020202020204" pitchFamily="34" charset="0"/>
              </a:rPr>
              <a:t>}</a:t>
            </a:r>
          </a:p>
          <a:p>
            <a:endParaRPr lang="en-IN" sz="1400" dirty="0">
              <a:latin typeface="Aptos Display" panose="020B0004020202020204" pitchFamily="34" charset="0"/>
            </a:endParaRPr>
          </a:p>
          <a:p>
            <a:r>
              <a:rPr lang="en-IN" sz="1400" dirty="0">
                <a:latin typeface="Aptos Display" panose="020B0004020202020204" pitchFamily="34" charset="0"/>
              </a:rPr>
              <a:t>function </a:t>
            </a:r>
            <a:r>
              <a:rPr lang="en-IN" sz="1400" dirty="0" err="1">
                <a:latin typeface="Aptos Display" panose="020B0004020202020204" pitchFamily="34" charset="0"/>
              </a:rPr>
              <a:t>toCelsius</a:t>
            </a:r>
            <a:r>
              <a:rPr lang="en-IN" sz="1400" dirty="0">
                <a:latin typeface="Aptos Display" panose="020B0004020202020204" pitchFamily="34" charset="0"/>
              </a:rPr>
              <a:t>() {</a:t>
            </a:r>
          </a:p>
          <a:p>
            <a:r>
              <a:rPr lang="en-IN" sz="1400" dirty="0">
                <a:latin typeface="Aptos Display" panose="020B0004020202020204" pitchFamily="34" charset="0"/>
              </a:rPr>
              <a:t>    let f = </a:t>
            </a:r>
            <a:r>
              <a:rPr lang="en-IN" sz="1400" dirty="0" err="1">
                <a:latin typeface="Aptos Display" panose="020B0004020202020204" pitchFamily="34" charset="0"/>
              </a:rPr>
              <a:t>parseFloat</a:t>
            </a:r>
            <a:r>
              <a:rPr lang="en-IN" sz="1400" dirty="0">
                <a:latin typeface="Aptos Display" panose="020B0004020202020204" pitchFamily="34" charset="0"/>
              </a:rPr>
              <a:t>(</a:t>
            </a:r>
            <a:r>
              <a:rPr lang="en-IN" sz="1400" dirty="0" err="1">
                <a:latin typeface="Aptos Display" panose="020B0004020202020204" pitchFamily="34" charset="0"/>
              </a:rPr>
              <a:t>document.getElementById</a:t>
            </a:r>
            <a:r>
              <a:rPr lang="en-IN" sz="1400" dirty="0">
                <a:latin typeface="Aptos Display" panose="020B0004020202020204" pitchFamily="34" charset="0"/>
              </a:rPr>
              <a:t>("temp").value);</a:t>
            </a:r>
          </a:p>
          <a:p>
            <a:r>
              <a:rPr lang="en-IN" sz="1400" dirty="0">
                <a:latin typeface="Aptos Display" panose="020B0004020202020204" pitchFamily="34" charset="0"/>
              </a:rPr>
              <a:t>    let c = (f - 32) * 5/9;</a:t>
            </a:r>
          </a:p>
          <a:p>
            <a:r>
              <a:rPr lang="en-IN" sz="1400" dirty="0">
                <a:latin typeface="Aptos Display" panose="020B0004020202020204" pitchFamily="34" charset="0"/>
              </a:rPr>
              <a:t>    </a:t>
            </a:r>
            <a:r>
              <a:rPr lang="en-IN" sz="1400" dirty="0" err="1">
                <a:latin typeface="Aptos Display" panose="020B0004020202020204" pitchFamily="34" charset="0"/>
              </a:rPr>
              <a:t>document.getElementById</a:t>
            </a:r>
            <a:r>
              <a:rPr lang="en-IN" sz="1400" dirty="0">
                <a:latin typeface="Aptos Display" panose="020B0004020202020204" pitchFamily="34" charset="0"/>
              </a:rPr>
              <a:t>("result").</a:t>
            </a:r>
            <a:r>
              <a:rPr lang="en-IN" sz="1400" dirty="0" err="1">
                <a:latin typeface="Aptos Display" panose="020B0004020202020204" pitchFamily="34" charset="0"/>
              </a:rPr>
              <a:t>innerHTML</a:t>
            </a:r>
            <a:r>
              <a:rPr lang="en-IN" sz="1400" dirty="0">
                <a:latin typeface="Aptos Display" panose="020B0004020202020204" pitchFamily="34" charset="0"/>
              </a:rPr>
              <a:t> = "Celsius: " + c;</a:t>
            </a:r>
          </a:p>
          <a:p>
            <a:r>
              <a:rPr lang="en-IN" sz="1400" dirty="0">
                <a:latin typeface="Aptos Display" panose="020B0004020202020204" pitchFamily="34" charset="0"/>
              </a:rPr>
              <a:t>}</a:t>
            </a:r>
          </a:p>
          <a:p>
            <a:r>
              <a:rPr lang="en-IN" sz="1400" dirty="0">
                <a:latin typeface="Aptos Display" panose="020B0004020202020204" pitchFamily="34" charset="0"/>
              </a:rPr>
              <a:t>&lt;/script&gt;</a:t>
            </a:r>
          </a:p>
          <a:p>
            <a:endParaRPr lang="en-IN" sz="1400" dirty="0">
              <a:latin typeface="Aptos Display" panose="020B0004020202020204" pitchFamily="34" charset="0"/>
            </a:endParaRPr>
          </a:p>
          <a:p>
            <a:r>
              <a:rPr lang="en-IN" sz="1400" dirty="0">
                <a:latin typeface="Aptos Display" panose="020B0004020202020204" pitchFamily="34" charset="0"/>
              </a:rPr>
              <a:t>&lt;/body&gt;</a:t>
            </a:r>
          </a:p>
          <a:p>
            <a:r>
              <a:rPr lang="en-IN" sz="1400" dirty="0">
                <a:latin typeface="Aptos Display" panose="020B0004020202020204" pitchFamily="34" charset="0"/>
              </a:rPr>
              <a:t>&lt;/html&gt;</a:t>
            </a:r>
          </a:p>
        </p:txBody>
      </p:sp>
    </p:spTree>
    <p:extLst>
      <p:ext uri="{BB962C8B-B14F-4D97-AF65-F5344CB8AC3E}">
        <p14:creationId xmlns:p14="http://schemas.microsoft.com/office/powerpoint/2010/main" val="291637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3BD025-DBCF-02CF-16B6-2E296BDE5308}"/>
              </a:ext>
            </a:extLst>
          </p:cNvPr>
          <p:cNvSpPr txBox="1"/>
          <p:nvPr/>
        </p:nvSpPr>
        <p:spPr>
          <a:xfrm flipH="1" flipV="1">
            <a:off x="879212" y="2082386"/>
            <a:ext cx="5209071" cy="4075346"/>
          </a:xfrm>
          <a:prstGeom prst="rect">
            <a:avLst/>
          </a:prstGeom>
          <a:noFill/>
        </p:spPr>
        <p:txBody>
          <a:bodyPr wrap="square" rtlCol="0">
            <a:spAutoFit/>
          </a:bodyPr>
          <a:lstStyle/>
          <a:p>
            <a:endParaRPr lang="en-IN" dirty="0"/>
          </a:p>
        </p:txBody>
      </p:sp>
      <p:pic>
        <p:nvPicPr>
          <p:cNvPr id="6" name="Picture 5">
            <a:extLst>
              <a:ext uri="{FF2B5EF4-FFF2-40B4-BE49-F238E27FC236}">
                <a16:creationId xmlns:a16="http://schemas.microsoft.com/office/drawing/2014/main" id="{71DEAC08-59EA-109E-65B5-388B36F15E4B}"/>
              </a:ext>
            </a:extLst>
          </p:cNvPr>
          <p:cNvPicPr>
            <a:picLocks noChangeAspect="1"/>
          </p:cNvPicPr>
          <p:nvPr/>
        </p:nvPicPr>
        <p:blipFill>
          <a:blip r:embed="rId2"/>
          <a:stretch>
            <a:fillRect/>
          </a:stretch>
        </p:blipFill>
        <p:spPr>
          <a:xfrm>
            <a:off x="231494" y="2455850"/>
            <a:ext cx="5734676" cy="3328417"/>
          </a:xfrm>
          <a:prstGeom prst="rect">
            <a:avLst/>
          </a:prstGeom>
        </p:spPr>
      </p:pic>
      <p:pic>
        <p:nvPicPr>
          <p:cNvPr id="9" name="Picture 8">
            <a:extLst>
              <a:ext uri="{FF2B5EF4-FFF2-40B4-BE49-F238E27FC236}">
                <a16:creationId xmlns:a16="http://schemas.microsoft.com/office/drawing/2014/main" id="{5AB4EF2A-EAFC-53AC-F94A-77AA508380C3}"/>
              </a:ext>
            </a:extLst>
          </p:cNvPr>
          <p:cNvPicPr>
            <a:picLocks noChangeAspect="1"/>
          </p:cNvPicPr>
          <p:nvPr/>
        </p:nvPicPr>
        <p:blipFill>
          <a:blip r:embed="rId3"/>
          <a:stretch>
            <a:fillRect/>
          </a:stretch>
        </p:blipFill>
        <p:spPr>
          <a:xfrm>
            <a:off x="6210396" y="2476497"/>
            <a:ext cx="5734676" cy="3287122"/>
          </a:xfrm>
          <a:prstGeom prst="rect">
            <a:avLst/>
          </a:prstGeom>
        </p:spPr>
      </p:pic>
      <p:sp>
        <p:nvSpPr>
          <p:cNvPr id="14" name="TextBox 13">
            <a:extLst>
              <a:ext uri="{FF2B5EF4-FFF2-40B4-BE49-F238E27FC236}">
                <a16:creationId xmlns:a16="http://schemas.microsoft.com/office/drawing/2014/main" id="{2E5D5DCC-4B43-21D1-CEE6-0CD07A0238C9}"/>
              </a:ext>
            </a:extLst>
          </p:cNvPr>
          <p:cNvSpPr txBox="1"/>
          <p:nvPr/>
        </p:nvSpPr>
        <p:spPr>
          <a:xfrm>
            <a:off x="5038169" y="771215"/>
            <a:ext cx="4039565" cy="646331"/>
          </a:xfrm>
          <a:prstGeom prst="rect">
            <a:avLst/>
          </a:prstGeom>
          <a:noFill/>
        </p:spPr>
        <p:txBody>
          <a:bodyPr wrap="square" rtlCol="0">
            <a:spAutoFit/>
          </a:bodyPr>
          <a:lstStyle/>
          <a:p>
            <a:r>
              <a:rPr lang="en-US" sz="3600" u="sng" dirty="0">
                <a:solidFill>
                  <a:schemeClr val="bg1"/>
                </a:solidFill>
                <a:latin typeface="Algerian" panose="04020705040A02060702" pitchFamily="82" charset="0"/>
              </a:rPr>
              <a:t>OUTPUTS</a:t>
            </a:r>
            <a:endParaRPr lang="en-IN" sz="3600" u="sng" dirty="0">
              <a:solidFill>
                <a:schemeClr val="bg1"/>
              </a:solidFill>
              <a:latin typeface="Algerian" panose="04020705040A02060702" pitchFamily="82" charset="0"/>
            </a:endParaRPr>
          </a:p>
        </p:txBody>
      </p:sp>
    </p:spTree>
    <p:extLst>
      <p:ext uri="{BB962C8B-B14F-4D97-AF65-F5344CB8AC3E}">
        <p14:creationId xmlns:p14="http://schemas.microsoft.com/office/powerpoint/2010/main" val="3948287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0279C7-E30F-FFEE-16C9-285E6657EF1A}"/>
              </a:ext>
            </a:extLst>
          </p:cNvPr>
          <p:cNvSpPr txBox="1"/>
          <p:nvPr/>
        </p:nvSpPr>
        <p:spPr>
          <a:xfrm rot="10800000" flipH="1" flipV="1">
            <a:off x="4322940" y="1129012"/>
            <a:ext cx="6124342" cy="646331"/>
          </a:xfrm>
          <a:prstGeom prst="rect">
            <a:avLst/>
          </a:prstGeom>
          <a:noFill/>
        </p:spPr>
        <p:txBody>
          <a:bodyPr wrap="square" rtlCol="0">
            <a:spAutoFit/>
          </a:bodyPr>
          <a:lstStyle/>
          <a:p>
            <a:r>
              <a:rPr lang="en-US" sz="3600" u="sng" dirty="0">
                <a:solidFill>
                  <a:schemeClr val="bg1"/>
                </a:solidFill>
                <a:latin typeface="Algerian" panose="04020705040A02060702" pitchFamily="82" charset="0"/>
              </a:rPr>
              <a:t>Conclusion</a:t>
            </a:r>
            <a:endParaRPr lang="en-IN" sz="3600" u="sng" dirty="0">
              <a:solidFill>
                <a:schemeClr val="bg1"/>
              </a:solidFill>
              <a:latin typeface="Algerian" panose="04020705040A02060702" pitchFamily="82" charset="0"/>
            </a:endParaRPr>
          </a:p>
        </p:txBody>
      </p:sp>
      <p:sp>
        <p:nvSpPr>
          <p:cNvPr id="3" name="TextBox 2">
            <a:extLst>
              <a:ext uri="{FF2B5EF4-FFF2-40B4-BE49-F238E27FC236}">
                <a16:creationId xmlns:a16="http://schemas.microsoft.com/office/drawing/2014/main" id="{2ACC3C7E-4DFE-EEB0-C4DB-211D0FE26FD4}"/>
              </a:ext>
            </a:extLst>
          </p:cNvPr>
          <p:cNvSpPr txBox="1"/>
          <p:nvPr/>
        </p:nvSpPr>
        <p:spPr>
          <a:xfrm flipH="1">
            <a:off x="1587061" y="2421677"/>
            <a:ext cx="9280634" cy="1569660"/>
          </a:xfrm>
          <a:prstGeom prst="rect">
            <a:avLst/>
          </a:prstGeom>
          <a:noFill/>
        </p:spPr>
        <p:txBody>
          <a:bodyPr wrap="square" rtlCol="0">
            <a:spAutoFit/>
          </a:bodyPr>
          <a:lstStyle/>
          <a:p>
            <a:r>
              <a:rPr lang="en-US" sz="2400" dirty="0">
                <a:latin typeface="Bell MT" panose="02020503060305020303" pitchFamily="18" charset="0"/>
              </a:rPr>
              <a:t>This program is useful for converting the </a:t>
            </a:r>
            <a:r>
              <a:rPr lang="en-US" sz="2400" dirty="0" err="1">
                <a:latin typeface="Bell MT" panose="02020503060305020303" pitchFamily="18" charset="0"/>
              </a:rPr>
              <a:t>tempretures</a:t>
            </a:r>
            <a:r>
              <a:rPr lang="en-US" sz="2400" dirty="0">
                <a:latin typeface="Bell MT" panose="02020503060305020303" pitchFamily="18" charset="0"/>
              </a:rPr>
              <a:t> and also it is helps users avoid manual calculation</a:t>
            </a:r>
          </a:p>
          <a:p>
            <a:r>
              <a:rPr lang="en-US" sz="2400" dirty="0">
                <a:latin typeface="Bell MT" panose="02020503060305020303" pitchFamily="18" charset="0"/>
              </a:rPr>
              <a:t>Its easy to  gives correct result Quickly this program helps to saves time and is useful in daily life</a:t>
            </a:r>
            <a:endParaRPr lang="en-IN" sz="2400" dirty="0">
              <a:latin typeface="Bell MT" panose="02020503060305020303" pitchFamily="18" charset="0"/>
            </a:endParaRPr>
          </a:p>
        </p:txBody>
      </p:sp>
    </p:spTree>
    <p:extLst>
      <p:ext uri="{BB962C8B-B14F-4D97-AF65-F5344CB8AC3E}">
        <p14:creationId xmlns:p14="http://schemas.microsoft.com/office/powerpoint/2010/main" val="2842658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6FF5AE-8D24-BC36-DBB3-3184EF61AB71}"/>
              </a:ext>
            </a:extLst>
          </p:cNvPr>
          <p:cNvSpPr txBox="1"/>
          <p:nvPr/>
        </p:nvSpPr>
        <p:spPr>
          <a:xfrm>
            <a:off x="4543216" y="2827284"/>
            <a:ext cx="7648784" cy="707886"/>
          </a:xfrm>
          <a:prstGeom prst="rect">
            <a:avLst/>
          </a:prstGeom>
          <a:noFill/>
        </p:spPr>
        <p:txBody>
          <a:bodyPr wrap="square" rtlCol="0">
            <a:spAutoFit/>
          </a:bodyPr>
          <a:lstStyle/>
          <a:p>
            <a:r>
              <a:rPr lang="en-US" sz="4000" dirty="0">
                <a:solidFill>
                  <a:schemeClr val="bg1"/>
                </a:solidFill>
                <a:latin typeface="Algerian" panose="04020705040A02060702" pitchFamily="82" charset="0"/>
              </a:rPr>
              <a:t>THANK YOU</a:t>
            </a:r>
            <a:endParaRPr lang="en-IN" sz="40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123291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246</TotalTime>
  <Words>675</Words>
  <Application>Microsoft Office PowerPoint</Application>
  <PresentationFormat>Widescreen</PresentationFormat>
  <Paragraphs>114</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Algerian</vt:lpstr>
      <vt:lpstr>Aptos Display</vt:lpstr>
      <vt:lpstr>Arial</vt:lpstr>
      <vt:lpstr>Bell MT</vt:lpstr>
      <vt:lpstr>Calibri</vt:lpstr>
      <vt:lpstr>Tw Cen MT</vt:lpstr>
      <vt:lpstr>Wingdings</vt:lpstr>
      <vt:lpstr>Circuit</vt:lpstr>
      <vt:lpstr>PowerPoint Presentation</vt:lpstr>
      <vt:lpstr>PowerPoint Presentation</vt:lpstr>
      <vt:lpstr>PowerPoint Presentation</vt:lpstr>
      <vt:lpstr>PowerPoint Presentation</vt:lpstr>
      <vt:lpstr>PowerPoint Presentation</vt:lpstr>
      <vt:lpstr>Features </vt:lpstr>
      <vt:lpstr>FORMULS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Mouna Raikar</dc:creator>
  <cp:lastModifiedBy>Mouna Raikar</cp:lastModifiedBy>
  <cp:revision>2</cp:revision>
  <dcterms:created xsi:type="dcterms:W3CDTF">2026-04-15T14:54:53Z</dcterms:created>
  <dcterms:modified xsi:type="dcterms:W3CDTF">2026-04-16T12:50:01Z</dcterms:modified>
</cp:coreProperties>
</file>